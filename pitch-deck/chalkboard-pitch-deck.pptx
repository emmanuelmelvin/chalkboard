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7992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Chalkboard: one shared, persistent canvas for thinking together. Beta is live at chalkboard.click.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Ideas live across video, whiteboard, docs, and chat. Nothing keeps discussion, visual thinking, and next steps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shared, persistent room replaces the fragmented tool chain: draw, explain, react, and leave with the work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canvas pairs loose chalk drawing with rigorous editing: selection, transforms, grouping, and synchronized undo/redo. The animated demo plays in slideshow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cursors, presence, reactions, raised hands, voice, roles, and reconnection grace keep the room alive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Private-by-default rooms, verified Google sign-in, role-based capabilities, TOTP-protected admin, rate limiting, and automatic archiving.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Built-in toolkit plus a developer workspace with a reviewed publish lifecycle and a 15% revenue share for plugin developers.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/ Pro / Team tiers from the pricing constants: retention, rooms, participants, voice minutes, seats, plugins, export, branding, workspace admin, priority support. Screenshot: the /plans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React/TS/Vite, Hono + Socket.IO with Redis adapter, PostgreSQL + Drizzle, Redis + BullMQ, LiveKit voice, Google Identity, R2 plugin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Beta is live at chalkboard.click. Shipped: rooms, canvas, plugins, billing, admin. Next: onboarding, catalogue, scale,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Move together. CTA to chalkboard.click and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20000">
            <a:off x="7772400" y="777240"/>
            <a:ext cx="3017520" cy="1874520"/>
          </a:xfrm>
          <a:prstGeom prst="ellipse">
            <a:avLst/>
          </a:prstGeom>
          <a:solidFill>
            <a:srgbClr val="090909">
              <a:alpha val="0"/>
            </a:srgbClr>
          </a:solidFill>
          <a:ln w="15875">
            <a:solidFill>
              <a:srgbClr val="2A2A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680000">
            <a:off x="8092440" y="2651760"/>
            <a:ext cx="3566160" cy="4434840"/>
          </a:xfrm>
          <a:prstGeom prst="ellipse">
            <a:avLst/>
          </a:prstGeom>
          <a:solidFill>
            <a:srgbClr val="090909">
              <a:alpha val="0"/>
            </a:srgbClr>
          </a:solidFill>
          <a:ln w="15875">
            <a:solidFill>
              <a:srgbClr val="8F75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6400800" y="4069080"/>
            <a:ext cx="1554480" cy="868680"/>
          </a:xfrm>
          <a:prstGeom prst="ellipse">
            <a:avLst/>
          </a:prstGeom>
          <a:solidFill>
            <a:srgbClr val="090909">
              <a:alpha val="0"/>
            </a:srgbClr>
          </a:solidFill>
          <a:ln w="12700">
            <a:solidFill>
              <a:srgbClr val="2A2A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240000">
            <a:off x="7955280" y="1600200"/>
            <a:ext cx="1874520" cy="603504"/>
          </a:xfrm>
          <a:prstGeom prst="roundRect">
            <a:avLst>
              <a:gd name="adj" fmla="val 10606"/>
            </a:avLst>
          </a:prstGeom>
          <a:solidFill>
            <a:srgbClr val="E3C77E"/>
          </a:solidFill>
          <a:ln w="12700">
            <a:solidFill>
              <a:srgbClr val="E3C7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83296" y="1691640"/>
            <a:ext cx="1618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kern="0" spc="120" dirty="0">
                <a:solidFill>
                  <a:srgbClr val="7A6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r>
              <a:rPr lang="en-US" sz="900" b="1" kern="0" spc="110" dirty="0">
                <a:solidFill>
                  <a:srgbClr val="191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SIGNAL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7A6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can build 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 rot="240000">
            <a:off x="9784080" y="3383280"/>
            <a:ext cx="1874520" cy="603504"/>
          </a:xfrm>
          <a:prstGeom prst="roundRect">
            <a:avLst>
              <a:gd name="adj" fmla="val 10606"/>
            </a:avLst>
          </a:prstGeom>
          <a:solidFill>
            <a:srgbClr val="FFFDF7"/>
          </a:solidFill>
          <a:ln w="12700">
            <a:solidFill>
              <a:srgbClr val="FFFD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12096" y="3474720"/>
            <a:ext cx="1618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kern="0" spc="120" dirty="0">
                <a:solidFill>
                  <a:srgbClr val="6D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r>
              <a:rPr lang="en-US" sz="900" b="1" kern="0" spc="110" dirty="0">
                <a:solidFill>
                  <a:srgbClr val="19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SHARED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6D6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move together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 rot="-360000">
            <a:off x="7498080" y="4983480"/>
            <a:ext cx="2103120" cy="41148"/>
          </a:xfrm>
          <a:prstGeom prst="rect">
            <a:avLst/>
          </a:prstGeom>
          <a:solidFill>
            <a:srgbClr val="F5F2EA">
              <a:alpha val="12000"/>
            </a:srgbClr>
          </a:solidFill>
          <a:ln w="1270">
            <a:solidFill>
              <a:srgbClr val="F5F2E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40000">
            <a:off x="8001000" y="5257800"/>
            <a:ext cx="1417320" cy="41148"/>
          </a:xfrm>
          <a:prstGeom prst="rect">
            <a:avLst/>
          </a:prstGeom>
          <a:solidFill>
            <a:srgbClr val="E3C77E">
              <a:alpha val="30000"/>
            </a:srgbClr>
          </a:solidFill>
          <a:ln w="1270">
            <a:solidFill>
              <a:srgbClr val="E3C77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520000">
            <a:off x="8732520" y="4892040"/>
            <a:ext cx="960120" cy="41148"/>
          </a:xfrm>
          <a:prstGeom prst="rect">
            <a:avLst/>
          </a:prstGeom>
          <a:solidFill>
            <a:srgbClr val="C7A258">
              <a:alpha val="22000"/>
            </a:srgbClr>
          </a:solidFill>
          <a:ln w="1270">
            <a:solidFill>
              <a:srgbClr val="C7A25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612648"/>
            <a:ext cx="82296" cy="82296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66928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CHALKBOARD / THE PRODUCT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1371600"/>
            <a:ext cx="7589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2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live canvas for
</a:t>
            </a:r>
            <a:endParaRPr lang="en-US" sz="5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2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thinking.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Chalkboard is a real-time collaborative room where a team, a class, or a study group draws, explains, and sees one another's work as it happens — with one shared, persistent canvas to build 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70916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C7A258"/>
          </a:solidFill>
          <a:ln w="12700">
            <a:solidFill>
              <a:srgbClr val="C7A25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191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LIVE — CHALKBOARD.CLICK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91840" y="470916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111110"/>
          </a:solidFill>
          <a:ln w="12700">
            <a:solidFill>
              <a:srgbClr val="2A2A2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PLUGIN PLATFORM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 — PITCH DECK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591495" y="6473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/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thinking gets </a:t>
            </a:r>
            <a:r>
              <a:rPr lang="en-US" sz="38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scattered</a:t>
            </a: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across disconnected tools.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happens in the video call, diagrams in a whiteboard app, notes in a document, links in chat.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450592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6517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USUAL ROOM / FOUR FRAGMENTS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305409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305409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call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conversation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698748"/>
            <a:ext cx="502920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1246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712464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diagrams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357116"/>
            <a:ext cx="502920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37083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4370832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5015484"/>
            <a:ext cx="502920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02920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5029200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links</a:t>
            </a:r>
            <a:endParaRPr lang="en-US" sz="1100" dirty="0"/>
          </a:p>
        </p:txBody>
      </p:sp>
      <p:pic>
        <p:nvPicPr>
          <p:cNvPr id="19" name="Image 0" descr="C:\Users\HP\codes\chalkboard\demo-video\frames\frame-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450592"/>
            <a:ext cx="5486400" cy="30861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199632" y="2450592"/>
            <a:ext cx="5486400" cy="3086100"/>
          </a:xfrm>
          <a:prstGeom prst="rect">
            <a:avLst/>
          </a:prstGeom>
          <a:noFill/>
          <a:ln w="15875">
            <a:solidFill>
              <a:srgbClr val="8F754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9632" y="561898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3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SCENE 01 — WHERE THE IDEA STARTS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199632" y="59207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did we </a:t>
            </a:r>
            <a:r>
              <a:rPr lang="en-US" sz="21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that?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502920" y="5870448"/>
            <a:ext cx="11185855" cy="475488"/>
          </a:xfrm>
          <a:prstGeom prst="roundRect">
            <a:avLst>
              <a:gd name="adj" fmla="val 11538"/>
            </a:avLst>
          </a:prstGeom>
          <a:solidFill>
            <a:srgbClr val="14171A"/>
          </a:solidFill>
          <a:ln w="9525">
            <a:solidFill>
              <a:srgbClr val="8F754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 </a:t>
            </a:r>
            <a:r>
              <a:rPr lang="en-US" sz="10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everyone leaves with a different version of what was decided. 3–4 tools per session, zero shared homes for the idea afterward.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 — PITCH DECK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591495" y="6473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/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room where the </a:t>
            </a:r>
            <a:r>
              <a:rPr lang="en-US" sz="38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 idea</a:t>
            </a: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lives.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Chalkboard gives a team, classroom, workshop, or study group one shared, persistent canvas — drawn on together, live.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450592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6517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ROOM / WHAT IT GIVES YOU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3154680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054096"/>
            <a:ext cx="468172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together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 the same canvas at the same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3666744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566160"/>
            <a:ext cx="468172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everyone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presence, live cursors, names, reactions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4178808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4078224"/>
            <a:ext cx="468172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 anytime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history reloads for every participant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4690872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590288"/>
            <a:ext cx="468172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access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ask-to-join, or password rooms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5202936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5102352"/>
            <a:ext cx="468172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board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tools and reviewed community plugins</a:t>
            </a:r>
            <a:endParaRPr lang="en-US" sz="1050" dirty="0"/>
          </a:p>
        </p:txBody>
      </p:sp>
      <p:pic>
        <p:nvPicPr>
          <p:cNvPr id="18" name="Image 0" descr="C:\Users\HP\codes\chalkboard\pitch-deck\images\selected-object-on-can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450592"/>
            <a:ext cx="5486400" cy="30861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199632" y="2450592"/>
            <a:ext cx="5486400" cy="3086100"/>
          </a:xfrm>
          <a:prstGeom prst="rect">
            <a:avLst/>
          </a:prstGeom>
          <a:noFill/>
          <a:ln w="15875">
            <a:solidFill>
              <a:srgbClr val="8F754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9632" y="561898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3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SCENE — SELECT, MOVE, RESIZE, GROUP, UNDO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02920" y="5870448"/>
            <a:ext cx="11185855" cy="475488"/>
          </a:xfrm>
          <a:prstGeom prst="roundRect">
            <a:avLst>
              <a:gd name="adj" fmla="val 11538"/>
            </a:avLst>
          </a:prstGeom>
          <a:solidFill>
            <a:srgbClr val="14171A"/>
          </a:solidFill>
          <a:ln w="9525">
            <a:solidFill>
              <a:srgbClr val="8F754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RHYTHM  </a:t>
            </a:r>
            <a:r>
              <a:rPr lang="en-US" sz="10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open a room · 02 make it visible · 03 move together.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 — PITCH DECK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91495" y="6473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CANVAS /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that keep the </a:t>
            </a:r>
            <a:r>
              <a:rPr lang="en-US" sz="38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thought moving.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Freehand chalk with color, size, intensity, and texture — and rigorous editing on top.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450592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6517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TOOLKIT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305409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305409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Freehand chalk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color, size, intensity, chalk-dust styling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698748"/>
            <a:ext cx="502920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1246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712464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 &amp; systems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lines, arrows, circles, polygons, stars, hearts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357116"/>
            <a:ext cx="502920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37083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4370832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&amp; links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context, saved references to a spot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5015484"/>
            <a:ext cx="502920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02920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5029200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&amp; transform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move, resize, rotate, group, duplicate, trim</a:t>
            </a:r>
            <a:endParaRPr lang="en-US" sz="1100" dirty="0"/>
          </a:p>
        </p:txBody>
      </p:sp>
      <p:pic>
        <p:nvPicPr>
          <p:cNvPr id="19" name="Image 0" descr="C:\Users\HP\codes\chalkboard\demo-video\chalkboard-dem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450592"/>
            <a:ext cx="5486400" cy="30861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199632" y="2450592"/>
            <a:ext cx="5486400" cy="3086100"/>
          </a:xfrm>
          <a:prstGeom prst="rect">
            <a:avLst/>
          </a:prstGeom>
          <a:noFill/>
          <a:ln w="15875">
            <a:solidFill>
              <a:srgbClr val="8F754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9632" y="561898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3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STROKES APPEAR FOR EVERYONE AS THEY ARE DRAWN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02920" y="5870448"/>
            <a:ext cx="11185855" cy="475488"/>
          </a:xfrm>
          <a:prstGeom prst="roundRect">
            <a:avLst>
              <a:gd name="adj" fmla="val 11538"/>
            </a:avLst>
          </a:prstGeom>
          <a:solidFill>
            <a:srgbClr val="14171A"/>
          </a:solidFill>
          <a:ln w="9525">
            <a:solidFill>
              <a:srgbClr val="8F754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  </a:t>
            </a:r>
            <a:r>
              <a:rPr lang="en-US" sz="10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board mutation is shared with the room: undo, redo, clear, and collaborators keep one result, not isolated copies.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 — PITCH DECK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0591495" y="6473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ROOM /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</a:t>
            </a:r>
            <a:r>
              <a:rPr lang="en-US" sz="38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everyone's thinking</a:t>
            </a: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it happens.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Presence, live cursors, reactions, and raised hands keep the room in sync even when the ideas are not.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450592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6517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ROOM / 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3154680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054096"/>
            <a:ext cx="46817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cursors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and colors, moving in real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3584448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483864"/>
            <a:ext cx="46817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here, where, and who is editing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4014216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913632"/>
            <a:ext cx="46817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Reactions &amp; hands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feedback and raised hands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4443984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343400"/>
            <a:ext cx="46817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rooms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LiveKit audio when enabled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4873752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773168"/>
            <a:ext cx="46817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owners, instructors, and viewers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3232" y="5303520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202936"/>
            <a:ext cx="46817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Reconnection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grace period — no flicker</a:t>
            </a:r>
            <a:endParaRPr lang="en-US" sz="1050" dirty="0"/>
          </a:p>
        </p:txBody>
      </p:sp>
      <p:pic>
        <p:nvPicPr>
          <p:cNvPr id="20" name="Image 0" descr="C:\Users\HP\codes\chalkboard\pitch-deck\images\board-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450592"/>
            <a:ext cx="5486400" cy="30861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199632" y="2450592"/>
            <a:ext cx="5486400" cy="3086100"/>
          </a:xfrm>
          <a:prstGeom prst="rect">
            <a:avLst/>
          </a:prstGeom>
          <a:noFill/>
          <a:ln w="15875">
            <a:solidFill>
              <a:srgbClr val="8F754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9632" y="561898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3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ROOM — LIVE CURSORS, PRESENCE, REACTIONS, ROLES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502920" y="5870448"/>
            <a:ext cx="11185855" cy="475488"/>
          </a:xfrm>
          <a:prstGeom prst="roundRect">
            <a:avLst>
              <a:gd name="adj" fmla="val 11538"/>
            </a:avLst>
          </a:prstGeom>
          <a:solidFill>
            <a:srgbClr val="14171A"/>
          </a:solidFill>
          <a:ln w="9525">
            <a:solidFill>
              <a:srgbClr val="8F754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 </a:t>
            </a:r>
            <a:r>
              <a:rPr lang="en-US" sz="10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rooms · ask-to-join · password-protected — six room themes: classroom, workshop, brainstorm, meeting, planning, studio.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 — PITCH DECK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591495" y="6473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11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/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by default, </a:t>
            </a:r>
            <a:r>
              <a:rPr lang="en-US" sz="38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by design.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start private. Authentication, roles, rate limits, and a guarded admin console do the housekeeping so the canvas stays open.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6949440" cy="3154680"/>
          </a:xfrm>
          <a:prstGeom prst="roundRect">
            <a:avLst>
              <a:gd name="adj" fmla="val 1739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999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CONTROL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3483864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383280"/>
            <a:ext cx="62819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sign-in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verified server-side, HTTP-only session cookie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3913632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813048"/>
            <a:ext cx="62819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roles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instructor, viewer — capabilities match the role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4343400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4242816"/>
            <a:ext cx="62819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roles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user, admin, super_admin for the wider system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4773168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672584"/>
            <a:ext cx="62819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TOTP two-factor session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5202936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5102352"/>
            <a:ext cx="62819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validation and rate limits on invites, reactions, hands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3232" y="5632704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532120"/>
            <a:ext cx="6281928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inactive rooms archive after 24 hours by default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80960" y="2788920"/>
            <a:ext cx="4005072" cy="3154680"/>
          </a:xfrm>
          <a:prstGeom prst="roundRect">
            <a:avLst>
              <a:gd name="adj" fmla="val 1739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2999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45552" y="3346704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006840" y="334670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inactivity archive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06840" y="360273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rooms close with their state cleaned up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845552" y="42062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2FA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9006840" y="4206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protection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006840" y="44622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 codes and recovery codes, separate session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845552" y="506577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9006840" y="50657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modes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06840" y="53218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ask-to-join, password-protected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 — PITCH DECK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591495" y="6473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11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/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extensible </a:t>
            </a:r>
            <a:r>
              <a:rPr lang="en-US" sz="38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 platform</a:t>
            </a: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inside the room.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tools cover the common cases; a reviewed community catalogue covers the rest — without ever leaving the canvas.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450592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6517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TOOLKIT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3054096"/>
            <a:ext cx="45720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3054096"/>
            <a:ext cx="452628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text on the 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566160"/>
            <a:ext cx="502920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79876"/>
            <a:ext cx="45720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579876"/>
            <a:ext cx="452628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 selected content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091940"/>
            <a:ext cx="502920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05656"/>
            <a:ext cx="45720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4105656"/>
            <a:ext cx="452628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computations at the 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617720"/>
            <a:ext cx="502920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631436"/>
            <a:ext cx="45720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4631436"/>
            <a:ext cx="452628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Set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Venn diagrams, number lines, grids, set symbols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5143500"/>
            <a:ext cx="502920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157216"/>
            <a:ext cx="45720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5157216"/>
            <a:ext cx="452628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packages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Dot, Inscribed Circles — MIT licensed</a:t>
            </a:r>
            <a:endParaRPr lang="en-US" sz="1100" dirty="0"/>
          </a:p>
        </p:txBody>
      </p:sp>
      <p:pic>
        <p:nvPicPr>
          <p:cNvPr id="22" name="Image 0" descr="C:\Users\HP\codes\chalkboard\pitch-deck\images\using-math-plug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450592"/>
            <a:ext cx="5486400" cy="30861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199632" y="2450592"/>
            <a:ext cx="5486400" cy="3086100"/>
          </a:xfrm>
          <a:prstGeom prst="rect">
            <a:avLst/>
          </a:prstGeom>
          <a:noFill/>
          <a:ln w="15875">
            <a:solidFill>
              <a:srgbClr val="8F754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99632" y="561898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3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BUILT-IN PLUGINS — MATH SETS AS REAL, EDITABLE CANVAS STROKES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502920" y="5870448"/>
            <a:ext cx="11185855" cy="475488"/>
          </a:xfrm>
          <a:prstGeom prst="roundRect">
            <a:avLst>
              <a:gd name="adj" fmla="val 11538"/>
            </a:avLst>
          </a:prstGeom>
          <a:solidFill>
            <a:srgbClr val="14171A"/>
          </a:solidFill>
          <a:ln w="9525">
            <a:solidFill>
              <a:srgbClr val="8F754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WORKSPACE  </a:t>
            </a:r>
            <a:r>
              <a:rPr lang="en-US" sz="10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 + permissions · postMessage bridge · draft → review → publish · 15% of paid revenue funds plugin developers.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 — PITCH DECK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0591495" y="6473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/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to teach. </a:t>
            </a:r>
            <a:r>
              <a:rPr lang="en-US" sz="38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Subscribed to keep.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defined Free tier, a Pro tier for work worth keeping, and a Team workspace for whole departments. No participant paywall, ever.</a:t>
            </a:r>
            <a:endParaRPr lang="en-US" sz="1200" dirty="0"/>
          </a:p>
        </p:txBody>
      </p:sp>
      <p:pic>
        <p:nvPicPr>
          <p:cNvPr id="6" name="Image 0" descr="C:\Users\HP\codes\chalkboard\pitch-deck\images\plans-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50592"/>
            <a:ext cx="6537960" cy="28821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2450592"/>
            <a:ext cx="6537960" cy="2882118"/>
          </a:xfrm>
          <a:prstGeom prst="rect">
            <a:avLst/>
          </a:prstGeom>
          <a:noFill/>
          <a:ln w="15875">
            <a:solidFill>
              <a:srgbClr val="8F75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5415006"/>
            <a:ext cx="6537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3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PLANS PAGE — SELF-SERVE CHECKOUT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7360920" y="2450592"/>
            <a:ext cx="4327855" cy="1005840"/>
          </a:xfrm>
          <a:prstGeom prst="roundRect">
            <a:avLst>
              <a:gd name="adj" fmla="val 5455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0376" y="2560320"/>
            <a:ext cx="388894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E3C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580376" y="2761488"/>
            <a:ext cx="3888943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r>
              <a:rPr lang="en-US" sz="8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forever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80376" y="3163824"/>
            <a:ext cx="3888943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rooms · 25 participants · 7-day retention · 200 voice minutes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360920" y="3547872"/>
            <a:ext cx="4327855" cy="1005840"/>
          </a:xfrm>
          <a:prstGeom prst="roundRect">
            <a:avLst>
              <a:gd name="adj" fmla="val 5455"/>
            </a:avLst>
          </a:prstGeom>
          <a:solidFill>
            <a:srgbClr val="111110"/>
          </a:solidFill>
          <a:ln w="9525">
            <a:solidFill>
              <a:srgbClr val="8F75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91495" y="3547872"/>
            <a:ext cx="1005840" cy="219456"/>
          </a:xfrm>
          <a:prstGeom prst="rect">
            <a:avLst/>
          </a:prstGeom>
          <a:solidFill>
            <a:srgbClr val="E3C77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kern="0" spc="110" dirty="0">
                <a:solidFill>
                  <a:srgbClr val="0909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7580376" y="3657600"/>
            <a:ext cx="388894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E3C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580376" y="3858768"/>
            <a:ext cx="3888943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</a:t>
            </a:r>
            <a:r>
              <a:rPr lang="en-US" sz="8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 month · $50 / year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580376" y="4261104"/>
            <a:ext cx="3888943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rooms · boards kept forever · full catalogue, export, publishing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360920" y="4645152"/>
            <a:ext cx="4327855" cy="1005840"/>
          </a:xfrm>
          <a:prstGeom prst="roundRect">
            <a:avLst>
              <a:gd name="adj" fmla="val 5455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0376" y="4754880"/>
            <a:ext cx="388894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E3C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580376" y="4956048"/>
            <a:ext cx="3888943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</a:t>
            </a:r>
            <a:r>
              <a:rPr lang="en-US" sz="8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 month · $300 / year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580376" y="5358384"/>
            <a:ext cx="3888943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seats · 300 participants · pooled voice · workspace admin, priority support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02920" y="5870448"/>
            <a:ext cx="11185855" cy="475488"/>
          </a:xfrm>
          <a:prstGeom prst="roundRect">
            <a:avLst>
              <a:gd name="adj" fmla="val 11538"/>
            </a:avLst>
          </a:prstGeom>
          <a:solidFill>
            <a:srgbClr val="14171A"/>
          </a:solidFill>
          <a:ln w="9525">
            <a:solidFill>
              <a:srgbClr val="8F754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870448"/>
            <a:ext cx="1063721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 </a:t>
            </a:r>
            <a:r>
              <a:rPr lang="en-US" sz="10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checkout &amp; customer portal (card, bank transfer, mobile money) · add-on seats for Team · 15% of paid revenue funds plugin developers.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 — PITCH DECK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0591495" y="6473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11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/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Realtime by design, </a:t>
            </a:r>
            <a:r>
              <a:rPr lang="en-US" sz="38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typed end to end.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deliberately small stack: one Node.js process serves the API, realtime, and the compiled frontend.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3602736" cy="1207008"/>
          </a:xfrm>
          <a:prstGeom prst="roundRect">
            <a:avLst>
              <a:gd name="adj" fmla="val 4545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880360"/>
            <a:ext cx="45720" cy="1207008"/>
          </a:xfrm>
          <a:prstGeom prst="rect">
            <a:avLst/>
          </a:prstGeom>
          <a:solidFill>
            <a:srgbClr val="C7A258"/>
          </a:solidFill>
          <a:ln w="1270">
            <a:solidFill>
              <a:srgbClr val="C7A2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081528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+ Vite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3447288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browser app, canvas renderers, Zustand state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88536" y="2880360"/>
            <a:ext cx="3602736" cy="1207008"/>
          </a:xfrm>
          <a:prstGeom prst="roundRect">
            <a:avLst>
              <a:gd name="adj" fmla="val 4545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2880360"/>
            <a:ext cx="45720" cy="1207008"/>
          </a:xfrm>
          <a:prstGeom prst="rect">
            <a:avLst/>
          </a:prstGeom>
          <a:solidFill>
            <a:srgbClr val="C7A258"/>
          </a:solidFill>
          <a:ln w="1270">
            <a:solidFill>
              <a:srgbClr val="C7A2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3081528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 + Socket.IO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4568" y="3447288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API and authenticated realtime rooms, Redis adapter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74152" y="2880360"/>
            <a:ext cx="3602736" cy="1207008"/>
          </a:xfrm>
          <a:prstGeom prst="roundRect">
            <a:avLst>
              <a:gd name="adj" fmla="val 4545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4152" y="2880360"/>
            <a:ext cx="45720" cy="1207008"/>
          </a:xfrm>
          <a:prstGeom prst="rect">
            <a:avLst/>
          </a:prstGeom>
          <a:solidFill>
            <a:srgbClr val="C7A258"/>
          </a:solidFill>
          <a:ln w="1270">
            <a:solidFill>
              <a:srgbClr val="C7A2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3081528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Drizzle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0184" y="3447288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rooms, members, plugins, billing, migrations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288536"/>
            <a:ext cx="3602736" cy="1207008"/>
          </a:xfrm>
          <a:prstGeom prst="roundRect">
            <a:avLst>
              <a:gd name="adj" fmla="val 4545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288536"/>
            <a:ext cx="45720" cy="1207008"/>
          </a:xfrm>
          <a:prstGeom prst="rect">
            <a:avLst/>
          </a:prstGeom>
          <a:solidFill>
            <a:srgbClr val="C7A258"/>
          </a:solidFill>
          <a:ln w="1270">
            <a:solidFill>
              <a:srgbClr val="C7A2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4489704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+ BullMQ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" y="4855464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canvas state, presence, rate limits, cleanup jobs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88536" y="4288536"/>
            <a:ext cx="3602736" cy="1207008"/>
          </a:xfrm>
          <a:prstGeom prst="roundRect">
            <a:avLst>
              <a:gd name="adj" fmla="val 4545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88536" y="4288536"/>
            <a:ext cx="45720" cy="1207008"/>
          </a:xfrm>
          <a:prstGeom prst="rect">
            <a:avLst/>
          </a:prstGeom>
          <a:solidFill>
            <a:srgbClr val="C7A258"/>
          </a:solidFill>
          <a:ln w="1270">
            <a:solidFill>
              <a:srgbClr val="C7A2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4489704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LiveKit + Google Identity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44568" y="4855464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voice tokens, verified server-side sign-in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74152" y="4288536"/>
            <a:ext cx="3602736" cy="1207008"/>
          </a:xfrm>
          <a:prstGeom prst="roundRect">
            <a:avLst>
              <a:gd name="adj" fmla="val 4545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4152" y="4288536"/>
            <a:ext cx="45720" cy="1207008"/>
          </a:xfrm>
          <a:prstGeom prst="rect">
            <a:avLst/>
          </a:prstGeom>
          <a:solidFill>
            <a:srgbClr val="C7A258"/>
          </a:solidFill>
          <a:ln w="1270">
            <a:solidFill>
              <a:srgbClr val="C7A2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0184" y="4489704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R2 + Zod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30184" y="4855464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assets; validated payloads and structured logs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5596128"/>
            <a:ext cx="11185855" cy="475488"/>
          </a:xfrm>
          <a:prstGeom prst="roundRect">
            <a:avLst>
              <a:gd name="adj" fmla="val 11538"/>
            </a:avLst>
          </a:prstGeom>
          <a:solidFill>
            <a:srgbClr val="14171A"/>
          </a:solidFill>
          <a:ln w="9525">
            <a:solidFill>
              <a:srgbClr val="8F75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596128"/>
            <a:ext cx="1063721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mirrors production: Vite proxies /api and /socket.io to the same backend — one process, one contract.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 — PITCH DECK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591495" y="6473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11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2296" cy="82296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/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 is </a:t>
            </a:r>
            <a:r>
              <a:rPr lang="en-US" sz="38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live.</a:t>
            </a:r>
            <a:r>
              <a:rPr lang="en-US" sz="38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room is open.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chalkboard.click is running today with realtime rooms, a full plugin lifecycle, self-serve billing, and a guarded admin console.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6949440" cy="2926080"/>
          </a:xfrm>
          <a:prstGeom prst="roundRect">
            <a:avLst>
              <a:gd name="adj" fmla="val 1875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999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/ TODAY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3483864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383280"/>
            <a:ext cx="6281928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rooms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 reconnection, voice, roles, access modes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3931920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831336"/>
            <a:ext cx="6281928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toolkit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chalk, shapes, notes, links, selection, sync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4379976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4279392"/>
            <a:ext cx="6281928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platform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workspace, review, approval, publishing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4828032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727448"/>
            <a:ext cx="6281928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billing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/ Pro / Team with hosted checkout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5276088"/>
            <a:ext cx="77724" cy="77724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5175504"/>
            <a:ext cx="6281928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</a:t>
            </a:r>
            <a:r>
              <a:rPr lang="en-US" sz="105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05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 2FA, plugin reviews, analytics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80960" y="2788920"/>
            <a:ext cx="4005072" cy="2926080"/>
          </a:xfrm>
          <a:prstGeom prst="roundRect">
            <a:avLst>
              <a:gd name="adj" fmla="val 1875"/>
            </a:avLst>
          </a:prstGeom>
          <a:solidFill>
            <a:srgbClr val="111110"/>
          </a:solidFill>
          <a:ln w="9525">
            <a:solidFill>
              <a:srgbClr val="2A2A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2999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/ ON THE ROAD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45552" y="34015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48472" y="340156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 invites and first-room flow.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45552" y="3954780"/>
            <a:ext cx="370332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39684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48472" y="396849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reviewed community plugins.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45552" y="4521708"/>
            <a:ext cx="370332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45552" y="453542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48472" y="453542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and voice across instances.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45552" y="5088636"/>
            <a:ext cx="3703320" cy="13716"/>
          </a:xfrm>
          <a:prstGeom prst="rect">
            <a:avLst/>
          </a:prstGeom>
          <a:solidFill>
            <a:srgbClr val="2A2A29"/>
          </a:solidFill>
          <a:ln w="1270">
            <a:solidFill>
              <a:srgbClr val="2A2A2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510235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7A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48472" y="510235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</a:t>
            </a: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en-US" sz="11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and workspace administration.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</a:t>
            </a:r>
            <a:r>
              <a:rPr lang="en-US" sz="1100" dirty="0">
                <a:solidFill>
                  <a:srgbClr val="E3C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chalkboard.click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 — PITCH DECK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591495" y="6473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440000">
            <a:off x="-1554480" y="-1920240"/>
            <a:ext cx="4206240" cy="5394960"/>
          </a:xfrm>
          <a:prstGeom prst="ellipse">
            <a:avLst/>
          </a:prstGeom>
          <a:solidFill>
            <a:srgbClr val="090909">
              <a:alpha val="0"/>
            </a:srgbClr>
          </a:solidFill>
          <a:ln w="15875">
            <a:solidFill>
              <a:srgbClr val="2A2A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260000">
            <a:off x="9784080" y="3291840"/>
            <a:ext cx="4023360" cy="3108960"/>
          </a:xfrm>
          <a:prstGeom prst="ellipse">
            <a:avLst/>
          </a:prstGeom>
          <a:solidFill>
            <a:srgbClr val="090909">
              <a:alpha val="0"/>
            </a:srgbClr>
          </a:solidFill>
          <a:ln w="15875">
            <a:solidFill>
              <a:srgbClr val="2A2A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2011680" y="4754880"/>
            <a:ext cx="2377440" cy="1554480"/>
          </a:xfrm>
          <a:prstGeom prst="ellipse">
            <a:avLst/>
          </a:prstGeom>
          <a:solidFill>
            <a:srgbClr val="090909">
              <a:alpha val="0"/>
            </a:srgbClr>
          </a:solidFill>
          <a:ln w="13970">
            <a:solidFill>
              <a:srgbClr val="8F75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480000">
            <a:off x="914400" y="2377440"/>
            <a:ext cx="1920240" cy="41148"/>
          </a:xfrm>
          <a:prstGeom prst="rect">
            <a:avLst/>
          </a:prstGeom>
          <a:solidFill>
            <a:srgbClr val="E3C77E">
              <a:alpha val="15000"/>
            </a:srgbClr>
          </a:solidFill>
          <a:ln w="1270">
            <a:solidFill>
              <a:srgbClr val="E3C77E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60000">
            <a:off x="1920240" y="2651760"/>
            <a:ext cx="1188720" cy="41148"/>
          </a:xfrm>
          <a:prstGeom prst="rect">
            <a:avLst/>
          </a:prstGeom>
          <a:solidFill>
            <a:srgbClr val="F5F2EA">
              <a:alpha val="12000"/>
            </a:srgbClr>
          </a:solidFill>
          <a:ln w="1270">
            <a:solidFill>
              <a:srgbClr val="F5F2EA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720000">
            <a:off x="9418320" y="2103120"/>
            <a:ext cx="1737360" cy="41148"/>
          </a:xfrm>
          <a:prstGeom prst="rect">
            <a:avLst/>
          </a:prstGeom>
          <a:solidFill>
            <a:srgbClr val="E3C77E">
              <a:alpha val="18000"/>
            </a:srgbClr>
          </a:solidFill>
          <a:ln w="1270">
            <a:solidFill>
              <a:srgbClr val="E3C77E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30368" y="1463040"/>
            <a:ext cx="82296" cy="82296"/>
          </a:xfrm>
          <a:prstGeom prst="rect">
            <a:avLst/>
          </a:prstGeom>
          <a:solidFill>
            <a:srgbClr val="C7A258"/>
          </a:solidFill>
          <a:ln w="12700">
            <a:solidFill>
              <a:srgbClr val="C7A2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3248" y="1417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3C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CHALKBOARD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27048" y="20116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</a:t>
            </a:r>
            <a:r>
              <a:rPr lang="en-US" sz="5200" i="1" dirty="0">
                <a:solidFill>
                  <a:srgbClr val="E3C7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together.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441448" y="3429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A6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next idea somewhere to go — a live room at chalkboard.click, or this repository to read the full plan.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425196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C7A258"/>
          </a:solidFill>
          <a:ln w="12700">
            <a:solidFill>
              <a:srgbClr val="C7A25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191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ROOM — CHALKBOARD.CLICK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CHALKBOARD — PITCH DECK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591495" y="64739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120" dirty="0">
                <a:solidFill>
                  <a:srgbClr val="777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1633</Words>
  <Application>Microsoft Office PowerPoint</Application>
  <PresentationFormat>Widescreen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Chalkboard — A live canvas for shared thinking</dc:title>
  <dc:subject>Product pitch deck</dc:subject>
  <dc:creator>Chalkboard</dc:creator>
  <cp:lastModifiedBy>Praise Ndubisi</cp:lastModifiedBy>
  <cp:revision>1</cp:revision>
  <dcterms:created xsi:type="dcterms:W3CDTF">2026-08-18T14:28:55Z</dcterms:created>
  <dcterms:modified xsi:type="dcterms:W3CDTF">2026-08-18T14:31:13Z</dcterms:modified>
</cp:coreProperties>
</file>