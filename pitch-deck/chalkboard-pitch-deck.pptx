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Chalkboard: one shared, persistent canvas for thinking together. Beta is live at chalkboard.click.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Ideas live across video, whiteboard, docs, and chat. Nothing keeps discussion, visual thinking, and next steps in one place.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shared, persistent room replaces the fragmented tool chain: draw, explain, react, and leave with the work intact.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canvas pairs loose chalk drawing with rigorous editing: selection, transforms, grouping, and synchronized undo/redo.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cursors, presence, reactions, raised hands, voice, roles, and reconnection grace keep the room alive together.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Private-by-default rooms, verified Google sign-in, role-based capabilities, TOTP-protected admin, rate limiting, and automatic archiving.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Built-in toolkit plus a developer workspace with a reviewed publish lifecycle and a 15% revenue share for plugin developers.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Free / Pro / Team tiers from the pricing constants: retention, rooms, participants, voice minutes, seats, plugins, export, branding, workspace admin, priority support.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React/TS/Vite, Hono + Socket.IO with Redis adapter, PostgreSQL + Drizzle, Redis + BullMQ, LiveKit voice, Google Identity, R2 plugin storage.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Beta is live at chalkboard.click. Shipped: rooms, canvas, plugins, billing, admin. Next: onboarding, catalogue, scale, tooling.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Closing: Move together. CTA to chalkboard.click and the repository.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9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1020000">
            <a:off x="7772400" y="777240"/>
            <a:ext cx="3017520" cy="1874520"/>
          </a:xfrm>
          <a:prstGeom prst="ellipse">
            <a:avLst/>
          </a:prstGeom>
          <a:solidFill>
            <a:srgbClr val="090909">
              <a:alpha val="0"/>
            </a:srgbClr>
          </a:solidFill>
          <a:ln w="15875">
            <a:solidFill>
              <a:srgbClr val="2A2A2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1680000">
            <a:off x="8092440" y="2651760"/>
            <a:ext cx="3566160" cy="4434840"/>
          </a:xfrm>
          <a:prstGeom prst="ellipse">
            <a:avLst/>
          </a:prstGeom>
          <a:solidFill>
            <a:srgbClr val="090909">
              <a:alpha val="0"/>
            </a:srgbClr>
          </a:solidFill>
          <a:ln w="15875">
            <a:solidFill>
              <a:srgbClr val="8F754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720000">
            <a:off x="6400800" y="4069080"/>
            <a:ext cx="1554480" cy="868680"/>
          </a:xfrm>
          <a:prstGeom prst="ellipse">
            <a:avLst/>
          </a:prstGeom>
          <a:solidFill>
            <a:srgbClr val="090909">
              <a:alpha val="0"/>
            </a:srgbClr>
          </a:solidFill>
          <a:ln w="12700">
            <a:solidFill>
              <a:srgbClr val="2A2A2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-240000">
            <a:off x="7955280" y="1600200"/>
            <a:ext cx="1874520" cy="603504"/>
          </a:xfrm>
          <a:prstGeom prst="roundRect">
            <a:avLst>
              <a:gd name="adj" fmla="val 10606"/>
            </a:avLst>
          </a:prstGeom>
          <a:solidFill>
            <a:srgbClr val="E3C77E"/>
          </a:solidFill>
          <a:ln w="12700">
            <a:solidFill>
              <a:srgbClr val="E3C77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83296" y="1691640"/>
            <a:ext cx="16184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00" b="1" spc="120" kern="0" dirty="0">
                <a:solidFill>
                  <a:srgbClr val="7A6A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</a:t>
            </a:r>
            <a:pPr algn="l" indent="0" marL="0">
              <a:lnSpc>
                <a:spcPct val="110000"/>
              </a:lnSpc>
              <a:buNone/>
            </a:pPr>
            <a:r>
              <a:rPr lang="en-US" sz="900" b="1" spc="110" kern="0" dirty="0">
                <a:solidFill>
                  <a:srgbClr val="191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THE SIGNAL</a:t>
            </a:r>
            <a:pPr algn="l" indent="0" marL="0">
              <a:lnSpc>
                <a:spcPct val="110000"/>
              </a:lnSpc>
              <a:buNone/>
            </a:pPr>
            <a:endParaRPr lang="en-US" sz="8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7A6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everyone can build on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 rot="240000">
            <a:off x="9784080" y="3383280"/>
            <a:ext cx="1874520" cy="603504"/>
          </a:xfrm>
          <a:prstGeom prst="roundRect">
            <a:avLst>
              <a:gd name="adj" fmla="val 10606"/>
            </a:avLst>
          </a:prstGeom>
          <a:solidFill>
            <a:srgbClr val="FFFDF7"/>
          </a:solidFill>
          <a:ln w="12700">
            <a:solidFill>
              <a:srgbClr val="FFFDF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912096" y="3474720"/>
            <a:ext cx="16184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00" b="1" spc="120" kern="0" dirty="0">
                <a:solidFill>
                  <a:srgbClr val="6D68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</a:t>
            </a:r>
            <a:pPr algn="l" indent="0" marL="0">
              <a:lnSpc>
                <a:spcPct val="110000"/>
              </a:lnSpc>
              <a:buNone/>
            </a:pPr>
            <a:r>
              <a:rPr lang="en-US" sz="900" b="1" spc="110" kern="0" dirty="0">
                <a:solidFill>
                  <a:srgbClr val="1918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IT SHARED</a:t>
            </a:r>
            <a:pPr algn="l" indent="0" marL="0">
              <a:lnSpc>
                <a:spcPct val="110000"/>
              </a:lnSpc>
              <a:buNone/>
            </a:pPr>
            <a:endParaRPr lang="en-US" sz="8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6D68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move together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 rot="-360000">
            <a:off x="7498080" y="4983480"/>
            <a:ext cx="2103120" cy="41148"/>
          </a:xfrm>
          <a:prstGeom prst="rect">
            <a:avLst/>
          </a:prstGeom>
          <a:solidFill>
            <a:srgbClr val="F5F2EA">
              <a:alpha val="12000"/>
            </a:srgbClr>
          </a:solidFill>
          <a:ln w="1270">
            <a:solidFill>
              <a:srgbClr val="F5F2EA">
                <a:alpha val="1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240000">
            <a:off x="8001000" y="5257800"/>
            <a:ext cx="1417320" cy="41148"/>
          </a:xfrm>
          <a:prstGeom prst="rect">
            <a:avLst/>
          </a:prstGeom>
          <a:solidFill>
            <a:srgbClr val="E3C77E">
              <a:alpha val="30000"/>
            </a:srgbClr>
          </a:solidFill>
          <a:ln w="1270">
            <a:solidFill>
              <a:srgbClr val="E3C77E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2520000">
            <a:off x="8732520" y="4892040"/>
            <a:ext cx="960120" cy="41148"/>
          </a:xfrm>
          <a:prstGeom prst="rect">
            <a:avLst/>
          </a:prstGeom>
          <a:solidFill>
            <a:srgbClr val="C7A258">
              <a:alpha val="22000"/>
            </a:srgbClr>
          </a:solidFill>
          <a:ln w="1270">
            <a:solidFill>
              <a:srgbClr val="C7A258">
                <a:alpha val="2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612648"/>
            <a:ext cx="82296" cy="82296"/>
          </a:xfrm>
          <a:prstGeom prst="rect">
            <a:avLst/>
          </a:prstGeom>
          <a:solidFill>
            <a:srgbClr val="C7A258"/>
          </a:solidFill>
          <a:ln w="12700">
            <a:solidFill>
              <a:srgbClr val="C7A25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566928"/>
            <a:ext cx="8686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E3C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CHALKBOARD / THE PRODUCT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2920" y="1371600"/>
            <a:ext cx="758952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200" dirty="0">
                <a:solidFill>
                  <a:srgbClr val="F5F2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live canvas for
</a:t>
            </a:r>
            <a:endParaRPr lang="en-US" sz="5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5200" i="1" dirty="0">
                <a:solidFill>
                  <a:srgbClr val="E3C7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shared thinking.</a:t>
            </a:r>
            <a:endParaRPr lang="en-US" sz="5200" dirty="0"/>
          </a:p>
        </p:txBody>
      </p:sp>
      <p:sp>
        <p:nvSpPr>
          <p:cNvPr id="15" name="Text 13"/>
          <p:cNvSpPr/>
          <p:nvPr/>
        </p:nvSpPr>
        <p:spPr>
          <a:xfrm>
            <a:off x="502920" y="3611880"/>
            <a:ext cx="61264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250" dirty="0">
                <a:solidFill>
                  <a:srgbClr val="A6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Chalkboard is a real-time collaborative room where a team, a class, or a study group draws, explains, and sees one another's work as it happens — with one shared, persistent canvas to build on.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709160"/>
            <a:ext cx="2651760" cy="457200"/>
          </a:xfrm>
          <a:prstGeom prst="roundRect">
            <a:avLst>
              <a:gd name="adj" fmla="val 10000"/>
            </a:avLst>
          </a:prstGeom>
          <a:solidFill>
            <a:srgbClr val="C7A258"/>
          </a:solidFill>
          <a:ln w="12700">
            <a:solidFill>
              <a:srgbClr val="C7A258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150" kern="0" dirty="0">
                <a:solidFill>
                  <a:srgbClr val="191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BETA LIVE — CHALKBOARD.CLICK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3291840" y="4709160"/>
            <a:ext cx="2651760" cy="457200"/>
          </a:xfrm>
          <a:prstGeom prst="roundRect">
            <a:avLst>
              <a:gd name="adj" fmla="val 10000"/>
            </a:avLst>
          </a:prstGeom>
          <a:solidFill>
            <a:srgbClr val="111110"/>
          </a:solidFill>
          <a:ln w="12700">
            <a:solidFill>
              <a:srgbClr val="2A2A29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150" kern="0" dirty="0">
                <a:solidFill>
                  <a:srgbClr val="E3C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EXTENSIBLE PLUGIN PLATFORM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02920" y="6473952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120" kern="0" dirty="0">
                <a:solidFill>
                  <a:srgbClr val="7773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CHALKBOARD — PITCH DECK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10591495" y="6473952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spc="120" kern="0" dirty="0">
                <a:solidFill>
                  <a:srgbClr val="7773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/ 11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909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02920"/>
            <a:ext cx="82296" cy="82296"/>
          </a:xfrm>
          <a:prstGeom prst="rect">
            <a:avLst/>
          </a:prstGeom>
          <a:solidFill>
            <a:srgbClr val="C7A258"/>
          </a:solidFill>
          <a:ln w="12700">
            <a:solidFill>
              <a:srgbClr val="C7A25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457200"/>
            <a:ext cx="8686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E3C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 / 01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749808"/>
            <a:ext cx="11185855" cy="12344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800" dirty="0">
                <a:solidFill>
                  <a:srgbClr val="F5F2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Good thinking gets </a:t>
            </a:r>
            <a:pPr algn="l" indent="0" marL="0">
              <a:lnSpc>
                <a:spcPct val="102000"/>
              </a:lnSpc>
              <a:buNone/>
            </a:pPr>
            <a:r>
              <a:rPr lang="en-US" sz="3800" i="1" dirty="0">
                <a:solidFill>
                  <a:srgbClr val="E3C7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scattered</a:t>
            </a:r>
            <a:pPr algn="l" indent="0" marL="0">
              <a:lnSpc>
                <a:spcPct val="102000"/>
              </a:lnSpc>
              <a:buNone/>
            </a:pPr>
            <a:r>
              <a:rPr lang="en-US" sz="3800" dirty="0">
                <a:solidFill>
                  <a:srgbClr val="F5F2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across disconnected tools.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02920" y="2084832"/>
            <a:ext cx="11185855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200" dirty="0">
                <a:solidFill>
                  <a:srgbClr val="A6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Conversation happens in the video call, diagrams in a whiteboard app, notes in a document, links in chat. When the meeting ends, the thinking has no shared home.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2788920"/>
            <a:ext cx="6949440" cy="3154680"/>
          </a:xfrm>
          <a:prstGeom prst="roundRect">
            <a:avLst>
              <a:gd name="adj" fmla="val 1739"/>
            </a:avLst>
          </a:prstGeom>
          <a:solidFill>
            <a:srgbClr val="111110"/>
          </a:solidFill>
          <a:ln w="9525">
            <a:solidFill>
              <a:srgbClr val="2A2A2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" y="2999232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spc="150" kern="0" dirty="0">
                <a:solidFill>
                  <a:srgbClr val="E3C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USUAL ROOM / FOUR FRAGMENTS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85800" y="3401568"/>
            <a:ext cx="45720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7A2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3401568"/>
            <a:ext cx="612648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5F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call</a:t>
            </a:r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777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A6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conversation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85800" y="3991356"/>
            <a:ext cx="6629400" cy="13716"/>
          </a:xfrm>
          <a:prstGeom prst="rect">
            <a:avLst/>
          </a:prstGeom>
          <a:solidFill>
            <a:srgbClr val="2A2A29"/>
          </a:solidFill>
          <a:ln w="1270">
            <a:solidFill>
              <a:srgbClr val="2A2A2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4005072"/>
            <a:ext cx="45720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7A2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4005072"/>
            <a:ext cx="612648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5F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Whiteboard</a:t>
            </a:r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777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A6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diagrams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85800" y="4594860"/>
            <a:ext cx="6629400" cy="13716"/>
          </a:xfrm>
          <a:prstGeom prst="rect">
            <a:avLst/>
          </a:prstGeom>
          <a:solidFill>
            <a:srgbClr val="2A2A29"/>
          </a:solidFill>
          <a:ln w="1270">
            <a:solidFill>
              <a:srgbClr val="2A2A2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4608576"/>
            <a:ext cx="45720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7A2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4608576"/>
            <a:ext cx="612648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5F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</a:t>
            </a:r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777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A6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notes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5800" y="5198364"/>
            <a:ext cx="6629400" cy="13716"/>
          </a:xfrm>
          <a:prstGeom prst="rect">
            <a:avLst/>
          </a:prstGeom>
          <a:solidFill>
            <a:srgbClr val="2A2A29"/>
          </a:solidFill>
          <a:ln w="1270">
            <a:solidFill>
              <a:srgbClr val="2A2A2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5212080"/>
            <a:ext cx="45720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7A2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88720" y="5212080"/>
            <a:ext cx="612648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5F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</a:t>
            </a:r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777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A6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links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680960" y="2788920"/>
            <a:ext cx="4005072" cy="3154680"/>
          </a:xfrm>
          <a:prstGeom prst="roundRect">
            <a:avLst>
              <a:gd name="adj" fmla="val 1739"/>
            </a:avLst>
          </a:prstGeom>
          <a:solidFill>
            <a:srgbClr val="111110"/>
          </a:solidFill>
          <a:ln w="9525">
            <a:solidFill>
              <a:srgbClr val="2A2A2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845552" y="2999232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spc="150" kern="0" dirty="0">
                <a:solidFill>
                  <a:srgbClr val="E3C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COST / AFTER THE MEETING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7845552" y="3291840"/>
            <a:ext cx="37033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300" dirty="0">
                <a:solidFill>
                  <a:srgbClr val="F5F2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did we </a:t>
            </a:r>
            <a:pPr algn="l" indent="0" marL="0">
              <a:buNone/>
            </a:pPr>
            <a:r>
              <a:rPr lang="en-US" sz="2300" i="1" dirty="0">
                <a:solidFill>
                  <a:srgbClr val="E3C7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put that?</a:t>
            </a:r>
            <a:endParaRPr lang="en-US" sz="2300" dirty="0"/>
          </a:p>
        </p:txBody>
      </p:sp>
      <p:sp>
        <p:nvSpPr>
          <p:cNvPr id="22" name="Text 20"/>
          <p:cNvSpPr/>
          <p:nvPr/>
        </p:nvSpPr>
        <p:spPr>
          <a:xfrm>
            <a:off x="7845552" y="3977640"/>
            <a:ext cx="37033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A6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Everyone leaves with a different version of what was decided — and of where the source of truth lives.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845552" y="4800600"/>
            <a:ext cx="3675888" cy="13716"/>
          </a:xfrm>
          <a:prstGeom prst="rect">
            <a:avLst/>
          </a:prstGeom>
          <a:solidFill>
            <a:srgbClr val="2A2A29"/>
          </a:solidFill>
          <a:ln w="1270">
            <a:solidFill>
              <a:srgbClr val="2A2A2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845552" y="4956048"/>
            <a:ext cx="367588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E3C7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3–4</a:t>
            </a:r>
            <a:pPr algn="l" indent="0" marL="0">
              <a:buNone/>
            </a:pPr>
            <a:r>
              <a:rPr lang="en-US" sz="1000" dirty="0">
                <a:solidFill>
                  <a:srgbClr val="777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tools per session
</a:t>
            </a:r>
            <a:endParaRPr lang="en-US" sz="3400" dirty="0"/>
          </a:p>
          <a:p>
            <a:pPr algn="l" indent="0" marL="0">
              <a:buNone/>
            </a:pPr>
            <a:r>
              <a:rPr lang="en-US" sz="3400" dirty="0">
                <a:solidFill>
                  <a:srgbClr val="E3C7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pPr algn="l" indent="0" marL="0">
              <a:buNone/>
            </a:pPr>
            <a:r>
              <a:rPr lang="en-US" sz="1000" dirty="0">
                <a:solidFill>
                  <a:srgbClr val="777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shared home for the idea afterward</a:t>
            </a:r>
            <a:endParaRPr lang="en-US" sz="3400" dirty="0"/>
          </a:p>
        </p:txBody>
      </p:sp>
      <p:sp>
        <p:nvSpPr>
          <p:cNvPr id="25" name="Text 23"/>
          <p:cNvSpPr/>
          <p:nvPr/>
        </p:nvSpPr>
        <p:spPr>
          <a:xfrm>
            <a:off x="502920" y="6473952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120" kern="0" dirty="0">
                <a:solidFill>
                  <a:srgbClr val="7773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CHALKBOARD — PITCH DECK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10591495" y="6473952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spc="120" kern="0" dirty="0">
                <a:solidFill>
                  <a:srgbClr val="7773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11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909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02920"/>
            <a:ext cx="82296" cy="82296"/>
          </a:xfrm>
          <a:prstGeom prst="rect">
            <a:avLst/>
          </a:prstGeom>
          <a:solidFill>
            <a:srgbClr val="C7A258"/>
          </a:solidFill>
          <a:ln w="12700">
            <a:solidFill>
              <a:srgbClr val="C7A25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457200"/>
            <a:ext cx="8686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E3C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PRODUCT / 02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749808"/>
            <a:ext cx="11185855" cy="12344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800" dirty="0">
                <a:solidFill>
                  <a:srgbClr val="F5F2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room where the </a:t>
            </a:r>
            <a:pPr algn="l" indent="0" marL="0">
              <a:lnSpc>
                <a:spcPct val="102000"/>
              </a:lnSpc>
              <a:buNone/>
            </a:pPr>
            <a:r>
              <a:rPr lang="en-US" sz="3800" i="1" dirty="0">
                <a:solidFill>
                  <a:srgbClr val="E3C7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whole idea</a:t>
            </a:r>
            <a:pPr algn="l" indent="0" marL="0">
              <a:lnSpc>
                <a:spcPct val="102000"/>
              </a:lnSpc>
              <a:buNone/>
            </a:pPr>
            <a:r>
              <a:rPr lang="en-US" sz="3800" dirty="0">
                <a:solidFill>
                  <a:srgbClr val="F5F2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lives.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02920" y="2084832"/>
            <a:ext cx="11185855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200" dirty="0">
                <a:solidFill>
                  <a:srgbClr val="A6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Chalkboard gives a team, classroom, workshop, or study group one shared, persistent canvas. Everyone draws on the same board, sees one another live, and leaves with the thinking still in place.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2788920"/>
            <a:ext cx="6949440" cy="3154680"/>
          </a:xfrm>
          <a:prstGeom prst="roundRect">
            <a:avLst>
              <a:gd name="adj" fmla="val 1739"/>
            </a:avLst>
          </a:prstGeom>
          <a:solidFill>
            <a:srgbClr val="111110"/>
          </a:solidFill>
          <a:ln w="9525">
            <a:solidFill>
              <a:srgbClr val="2A2A2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" y="2999232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spc="150" kern="0" dirty="0">
                <a:solidFill>
                  <a:srgbClr val="E3C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ROOM / WHAT IT GIVES YOU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713232" y="3483864"/>
            <a:ext cx="77724" cy="77724"/>
          </a:xfrm>
          <a:prstGeom prst="rect">
            <a:avLst/>
          </a:prstGeom>
          <a:solidFill>
            <a:srgbClr val="C7A258"/>
          </a:solidFill>
          <a:ln w="12700">
            <a:solidFill>
              <a:srgbClr val="C7A25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9264" y="3383280"/>
            <a:ext cx="6281928" cy="5074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F5F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 together</a:t>
            </a:r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777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A6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annotate the same canvas at the same time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13232" y="3991356"/>
            <a:ext cx="77724" cy="77724"/>
          </a:xfrm>
          <a:prstGeom prst="rect">
            <a:avLst/>
          </a:prstGeom>
          <a:solidFill>
            <a:srgbClr val="C7A258"/>
          </a:solidFill>
          <a:ln w="12700">
            <a:solidFill>
              <a:srgbClr val="C7A25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3890772"/>
            <a:ext cx="6281928" cy="5074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F5F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everyone</a:t>
            </a:r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777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A6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presence, live cursors, names, reactions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13232" y="4498848"/>
            <a:ext cx="77724" cy="77724"/>
          </a:xfrm>
          <a:prstGeom prst="rect">
            <a:avLst/>
          </a:prstGeom>
          <a:solidFill>
            <a:srgbClr val="C7A258"/>
          </a:solidFill>
          <a:ln w="12700">
            <a:solidFill>
              <a:srgbClr val="C7A25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9264" y="4398264"/>
            <a:ext cx="6281928" cy="5074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F5F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Reopen anytime</a:t>
            </a:r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777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A6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room history reloads for every participant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13232" y="5006340"/>
            <a:ext cx="77724" cy="77724"/>
          </a:xfrm>
          <a:prstGeom prst="rect">
            <a:avLst/>
          </a:prstGeom>
          <a:solidFill>
            <a:srgbClr val="C7A258"/>
          </a:solidFill>
          <a:ln w="12700">
            <a:solidFill>
              <a:srgbClr val="C7A25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9264" y="4905756"/>
            <a:ext cx="6281928" cy="5074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F5F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access</a:t>
            </a:r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777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A6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open, ask-to-join, or password rooms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13232" y="5513832"/>
            <a:ext cx="77724" cy="77724"/>
          </a:xfrm>
          <a:prstGeom prst="rect">
            <a:avLst/>
          </a:prstGeom>
          <a:solidFill>
            <a:srgbClr val="C7A258"/>
          </a:solidFill>
          <a:ln w="12700">
            <a:solidFill>
              <a:srgbClr val="C7A25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9264" y="5413248"/>
            <a:ext cx="6281928" cy="5074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F5F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Extend the board</a:t>
            </a:r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777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A6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built-in tools and reviewed community plugins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680960" y="2788920"/>
            <a:ext cx="4005072" cy="3154680"/>
          </a:xfrm>
          <a:prstGeom prst="roundRect">
            <a:avLst>
              <a:gd name="adj" fmla="val 1739"/>
            </a:avLst>
          </a:prstGeom>
          <a:solidFill>
            <a:srgbClr val="111110"/>
          </a:solidFill>
          <a:ln w="9525">
            <a:solidFill>
              <a:srgbClr val="2A2A2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845552" y="2999232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spc="150" kern="0" dirty="0">
                <a:solidFill>
                  <a:srgbClr val="E3C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SIMPLE RHYTHM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7845552" y="3401568"/>
            <a:ext cx="4572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7A2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348472" y="3401568"/>
            <a:ext cx="32004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5F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a room</a:t>
            </a:r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777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A6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 the idea somewhere to go.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845552" y="4101084"/>
            <a:ext cx="3703320" cy="13716"/>
          </a:xfrm>
          <a:prstGeom prst="rect">
            <a:avLst/>
          </a:prstGeom>
          <a:solidFill>
            <a:srgbClr val="2A2A29"/>
          </a:solidFill>
          <a:ln w="1270">
            <a:solidFill>
              <a:srgbClr val="2A2A2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845552" y="4114800"/>
            <a:ext cx="4572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7A2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348472" y="4114800"/>
            <a:ext cx="32004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5F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it visible</a:t>
            </a:r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777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A6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 the thread and add context.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845552" y="4814316"/>
            <a:ext cx="3703320" cy="13716"/>
          </a:xfrm>
          <a:prstGeom prst="rect">
            <a:avLst/>
          </a:prstGeom>
          <a:solidFill>
            <a:srgbClr val="2A2A29"/>
          </a:solidFill>
          <a:ln w="1270">
            <a:solidFill>
              <a:srgbClr val="2A2A2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845552" y="4828032"/>
            <a:ext cx="4572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7A2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348472" y="4828032"/>
            <a:ext cx="32004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5F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 together</a:t>
            </a:r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777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A6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leave with a clear next step.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02920" y="6473952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120" kern="0" dirty="0">
                <a:solidFill>
                  <a:srgbClr val="7773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CHALKBOARD — PITCH DECK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10591495" y="6473952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spc="120" kern="0" dirty="0">
                <a:solidFill>
                  <a:srgbClr val="7773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/ 11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909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02920"/>
            <a:ext cx="82296" cy="82296"/>
          </a:xfrm>
          <a:prstGeom prst="rect">
            <a:avLst/>
          </a:prstGeom>
          <a:solidFill>
            <a:srgbClr val="C7A258"/>
          </a:solidFill>
          <a:ln w="12700">
            <a:solidFill>
              <a:srgbClr val="C7A25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457200"/>
            <a:ext cx="8686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E3C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CANVAS / 03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749808"/>
            <a:ext cx="11185855" cy="12344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800" dirty="0">
                <a:solidFill>
                  <a:srgbClr val="F5F2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Tools that keep the </a:t>
            </a:r>
            <a:pPr algn="l" indent="0" marL="0">
              <a:lnSpc>
                <a:spcPct val="102000"/>
              </a:lnSpc>
              <a:buNone/>
            </a:pPr>
            <a:r>
              <a:rPr lang="en-US" sz="3800" i="1" dirty="0">
                <a:solidFill>
                  <a:srgbClr val="E3C7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thought moving.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0" y="2084832"/>
            <a:ext cx="11185855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200" dirty="0">
                <a:solidFill>
                  <a:srgbClr val="A6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Freehand chalk with color, size, intensity, and texture — and rigorous editing on top. Every board mutation is synchronized to the room, so collaborators share one result instead of isolated copies.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2880360"/>
            <a:ext cx="5440680" cy="1554480"/>
          </a:xfrm>
          <a:prstGeom prst="roundRect">
            <a:avLst>
              <a:gd name="adj" fmla="val 3529"/>
            </a:avLst>
          </a:prstGeom>
          <a:solidFill>
            <a:srgbClr val="111110"/>
          </a:solidFill>
          <a:ln w="9525">
            <a:solidFill>
              <a:srgbClr val="2A2A2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099816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7A2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77240" y="3410712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5F2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Freehand chalk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777240" y="3840480"/>
            <a:ext cx="48737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A6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Color, size, intensity, and chalk-dust styling for loose, natural strokes.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45352" y="2880360"/>
            <a:ext cx="5440680" cy="1554480"/>
          </a:xfrm>
          <a:prstGeom prst="roundRect">
            <a:avLst>
              <a:gd name="adj" fmla="val 3529"/>
            </a:avLst>
          </a:prstGeom>
          <a:solidFill>
            <a:srgbClr val="111110"/>
          </a:solidFill>
          <a:ln w="9525">
            <a:solidFill>
              <a:srgbClr val="2A2A2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19672" y="3099816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7A2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519672" y="3410712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5F2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Shapes &amp; systems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6519672" y="3840480"/>
            <a:ext cx="48737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A6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Lines, arrows, circles, rectangles, polygons, stars, hearts, crosses, diamonds.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02920" y="4672584"/>
            <a:ext cx="5440680" cy="1554480"/>
          </a:xfrm>
          <a:prstGeom prst="roundRect">
            <a:avLst>
              <a:gd name="adj" fmla="val 3529"/>
            </a:avLst>
          </a:prstGeom>
          <a:solidFill>
            <a:srgbClr val="111110"/>
          </a:solidFill>
          <a:ln w="9525">
            <a:solidFill>
              <a:srgbClr val="2A2A2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48920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7A2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77240" y="5202936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5F2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Notes &amp; links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777240" y="5632704"/>
            <a:ext cx="48737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A6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Editable notes and saved links that connect a reference to a spot on the canvas.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245352" y="4672584"/>
            <a:ext cx="5440680" cy="1554480"/>
          </a:xfrm>
          <a:prstGeom prst="roundRect">
            <a:avLst>
              <a:gd name="adj" fmla="val 3529"/>
            </a:avLst>
          </a:prstGeom>
          <a:solidFill>
            <a:srgbClr val="111110"/>
          </a:solidFill>
          <a:ln w="9525">
            <a:solidFill>
              <a:srgbClr val="2A2A2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19672" y="48920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7A2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519672" y="5202936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5F2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Select &amp; transform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6519672" y="5632704"/>
            <a:ext cx="48737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A6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Move, resize, rotate, group, duplicate, trim, cut, copy, paste — plus undo, redo, clear.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02920" y="6473952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120" kern="0" dirty="0">
                <a:solidFill>
                  <a:srgbClr val="7773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CHALKBOARD — PITCH DECK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10591495" y="6473952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spc="120" kern="0" dirty="0">
                <a:solidFill>
                  <a:srgbClr val="7773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11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909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02920"/>
            <a:ext cx="82296" cy="82296"/>
          </a:xfrm>
          <a:prstGeom prst="rect">
            <a:avLst/>
          </a:prstGeom>
          <a:solidFill>
            <a:srgbClr val="C7A258"/>
          </a:solidFill>
          <a:ln w="12700">
            <a:solidFill>
              <a:srgbClr val="C7A25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457200"/>
            <a:ext cx="8686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E3C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ROOM / 04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749808"/>
            <a:ext cx="11185855" cy="12344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800" dirty="0">
                <a:solidFill>
                  <a:srgbClr val="F5F2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See </a:t>
            </a:r>
            <a:pPr algn="l" indent="0" marL="0">
              <a:lnSpc>
                <a:spcPct val="102000"/>
              </a:lnSpc>
              <a:buNone/>
            </a:pPr>
            <a:r>
              <a:rPr lang="en-US" sz="3800" i="1" dirty="0">
                <a:solidFill>
                  <a:srgbClr val="E3C7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everyone's thinking</a:t>
            </a:r>
            <a:pPr algn="l" indent="0" marL="0">
              <a:lnSpc>
                <a:spcPct val="102000"/>
              </a:lnSpc>
              <a:buNone/>
            </a:pPr>
            <a:r>
              <a:rPr lang="en-US" sz="3800" dirty="0">
                <a:solidFill>
                  <a:srgbClr val="F5F2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as it happens.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02920" y="2084832"/>
            <a:ext cx="11185855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200" dirty="0">
                <a:solidFill>
                  <a:srgbClr val="A6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Presence, live cursors, reactions, and raised hands keep the room in sync even when the ideas are not.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2788920"/>
            <a:ext cx="6949440" cy="3154680"/>
          </a:xfrm>
          <a:prstGeom prst="roundRect">
            <a:avLst>
              <a:gd name="adj" fmla="val 1739"/>
            </a:avLst>
          </a:prstGeom>
          <a:solidFill>
            <a:srgbClr val="111110"/>
          </a:solidFill>
          <a:ln w="9525">
            <a:solidFill>
              <a:srgbClr val="2A2A2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" y="2999232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spc="150" kern="0" dirty="0">
                <a:solidFill>
                  <a:srgbClr val="E3C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INSIDE THE ROOM / LIVE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713232" y="3483864"/>
            <a:ext cx="77724" cy="77724"/>
          </a:xfrm>
          <a:prstGeom prst="rect">
            <a:avLst/>
          </a:prstGeom>
          <a:solidFill>
            <a:srgbClr val="C7A258"/>
          </a:solidFill>
          <a:ln w="12700">
            <a:solidFill>
              <a:srgbClr val="C7A25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9264" y="3383280"/>
            <a:ext cx="6281928" cy="429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F5F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cursors</a:t>
            </a:r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777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A6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names and colors, moving in real time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13232" y="3913632"/>
            <a:ext cx="77724" cy="77724"/>
          </a:xfrm>
          <a:prstGeom prst="rect">
            <a:avLst/>
          </a:prstGeom>
          <a:solidFill>
            <a:srgbClr val="C7A258"/>
          </a:solidFill>
          <a:ln w="12700">
            <a:solidFill>
              <a:srgbClr val="C7A25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3813048"/>
            <a:ext cx="6281928" cy="429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F5F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Presence</a:t>
            </a:r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777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A6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is here, where, and who is editing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13232" y="4343400"/>
            <a:ext cx="77724" cy="77724"/>
          </a:xfrm>
          <a:prstGeom prst="rect">
            <a:avLst/>
          </a:prstGeom>
          <a:solidFill>
            <a:srgbClr val="C7A258"/>
          </a:solidFill>
          <a:ln w="12700">
            <a:solidFill>
              <a:srgbClr val="C7A25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9264" y="4242816"/>
            <a:ext cx="6281928" cy="429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F5F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Reactions &amp; hands</a:t>
            </a:r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777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A6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lightweight feedback, raised hands, counts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13232" y="4773168"/>
            <a:ext cx="77724" cy="77724"/>
          </a:xfrm>
          <a:prstGeom prst="rect">
            <a:avLst/>
          </a:prstGeom>
          <a:solidFill>
            <a:srgbClr val="C7A258"/>
          </a:solidFill>
          <a:ln w="12700">
            <a:solidFill>
              <a:srgbClr val="C7A25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9264" y="4672584"/>
            <a:ext cx="6281928" cy="429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F5F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 rooms</a:t>
            </a:r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777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A6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 LiveKit audio for enabled rooms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13232" y="5202936"/>
            <a:ext cx="77724" cy="77724"/>
          </a:xfrm>
          <a:prstGeom prst="rect">
            <a:avLst/>
          </a:prstGeom>
          <a:solidFill>
            <a:srgbClr val="C7A258"/>
          </a:solidFill>
          <a:ln w="12700">
            <a:solidFill>
              <a:srgbClr val="C7A25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9264" y="5102352"/>
            <a:ext cx="6281928" cy="429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F5F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Roles</a:t>
            </a:r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777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A6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owners, instructors, and viewers act in the right scope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13232" y="5632704"/>
            <a:ext cx="77724" cy="77724"/>
          </a:xfrm>
          <a:prstGeom prst="rect">
            <a:avLst/>
          </a:prstGeom>
          <a:solidFill>
            <a:srgbClr val="C7A258"/>
          </a:solidFill>
          <a:ln w="12700">
            <a:solidFill>
              <a:srgbClr val="C7A25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9264" y="5532120"/>
            <a:ext cx="6281928" cy="429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F5F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Reconnection</a:t>
            </a:r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777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A6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presence grace period — no flicker on transient drops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680960" y="2788920"/>
            <a:ext cx="4005072" cy="3154680"/>
          </a:xfrm>
          <a:prstGeom prst="roundRect">
            <a:avLst>
              <a:gd name="adj" fmla="val 1739"/>
            </a:avLst>
          </a:prstGeom>
          <a:solidFill>
            <a:srgbClr val="111110"/>
          </a:solidFill>
          <a:ln w="9525">
            <a:solidFill>
              <a:srgbClr val="2A2A2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845552" y="2999232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spc="150" kern="0" dirty="0">
                <a:solidFill>
                  <a:srgbClr val="E3C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A ROOM OPENS / ACCESS MODES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7845552" y="3401568"/>
            <a:ext cx="45720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7A2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348472" y="3401568"/>
            <a:ext cx="320040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5F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rooms</a:t>
            </a:r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777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A6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anyone with the code joins instantly.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845552" y="3991356"/>
            <a:ext cx="3703320" cy="13716"/>
          </a:xfrm>
          <a:prstGeom prst="rect">
            <a:avLst/>
          </a:prstGeom>
          <a:solidFill>
            <a:srgbClr val="2A2A29"/>
          </a:solidFill>
          <a:ln w="1270">
            <a:solidFill>
              <a:srgbClr val="2A2A2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845552" y="4005072"/>
            <a:ext cx="45720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7A2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348472" y="4005072"/>
            <a:ext cx="320040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5F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to join</a:t>
            </a:r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777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A6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owner reviews each request.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845552" y="4594860"/>
            <a:ext cx="3703320" cy="13716"/>
          </a:xfrm>
          <a:prstGeom prst="rect">
            <a:avLst/>
          </a:prstGeom>
          <a:solidFill>
            <a:srgbClr val="2A2A29"/>
          </a:solidFill>
          <a:ln w="1270">
            <a:solidFill>
              <a:srgbClr val="2A2A2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845552" y="4608576"/>
            <a:ext cx="45720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7A2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348472" y="4608576"/>
            <a:ext cx="320040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5F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Password</a:t>
            </a:r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777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A6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generated password keeps it private.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845552" y="5349240"/>
            <a:ext cx="3703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77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room themes — classroom, workshop, brainstorm, meeting, planning, studio.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02920" y="605332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3C7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502920" y="6309360"/>
            <a:ext cx="35661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120" kern="0" dirty="0">
                <a:solidFill>
                  <a:srgbClr val="7773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cursors &amp; presence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4315968" y="605332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3C7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SYNCED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4315968" y="6309360"/>
            <a:ext cx="35661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120" kern="0" dirty="0">
                <a:solidFill>
                  <a:srgbClr val="7773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strokes &amp; every board edit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8129016" y="605332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3C7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SAVED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8129016" y="6309360"/>
            <a:ext cx="35661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120" kern="0" dirty="0">
                <a:solidFill>
                  <a:srgbClr val="7773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history reloads on join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502920" y="6473952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120" kern="0" dirty="0">
                <a:solidFill>
                  <a:srgbClr val="7773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CHALKBOARD — PITCH DECK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10591495" y="6473952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spc="120" kern="0" dirty="0">
                <a:solidFill>
                  <a:srgbClr val="7773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/ 11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909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02920"/>
            <a:ext cx="82296" cy="82296"/>
          </a:xfrm>
          <a:prstGeom prst="rect">
            <a:avLst/>
          </a:prstGeom>
          <a:solidFill>
            <a:srgbClr val="C7A258"/>
          </a:solidFill>
          <a:ln w="12700">
            <a:solidFill>
              <a:srgbClr val="C7A25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457200"/>
            <a:ext cx="8686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E3C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 / 05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749808"/>
            <a:ext cx="11185855" cy="12344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800" dirty="0">
                <a:solidFill>
                  <a:srgbClr val="F5F2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Private by default, </a:t>
            </a:r>
            <a:pPr algn="l" indent="0" marL="0">
              <a:lnSpc>
                <a:spcPct val="102000"/>
              </a:lnSpc>
              <a:buNone/>
            </a:pPr>
            <a:r>
              <a:rPr lang="en-US" sz="3800" i="1" dirty="0">
                <a:solidFill>
                  <a:srgbClr val="E3C7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safe by design.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02920" y="2084832"/>
            <a:ext cx="11185855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200" dirty="0">
                <a:solidFill>
                  <a:srgbClr val="A6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Rooms start private. Authentication, roles, rate limits, and a guarded admin console do the housekeeping so the canvas stays open.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2788920"/>
            <a:ext cx="6949440" cy="3154680"/>
          </a:xfrm>
          <a:prstGeom prst="roundRect">
            <a:avLst>
              <a:gd name="adj" fmla="val 1739"/>
            </a:avLst>
          </a:prstGeom>
          <a:solidFill>
            <a:srgbClr val="111110"/>
          </a:solidFill>
          <a:ln w="9525">
            <a:solidFill>
              <a:srgbClr val="2A2A2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" y="2999232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spc="150" kern="0" dirty="0">
                <a:solidFill>
                  <a:srgbClr val="E3C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AUTHENTICATION &amp; CONTROL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713232" y="3483864"/>
            <a:ext cx="77724" cy="77724"/>
          </a:xfrm>
          <a:prstGeom prst="rect">
            <a:avLst/>
          </a:prstGeom>
          <a:solidFill>
            <a:srgbClr val="C7A258"/>
          </a:solidFill>
          <a:ln w="12700">
            <a:solidFill>
              <a:srgbClr val="C7A25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9264" y="3383280"/>
            <a:ext cx="6281928" cy="429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F5F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sign-in</a:t>
            </a:r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777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A6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credential verified server-side, HTTP-only session cookie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13232" y="3913632"/>
            <a:ext cx="77724" cy="77724"/>
          </a:xfrm>
          <a:prstGeom prst="rect">
            <a:avLst/>
          </a:prstGeom>
          <a:solidFill>
            <a:srgbClr val="C7A258"/>
          </a:solidFill>
          <a:ln w="12700">
            <a:solidFill>
              <a:srgbClr val="C7A25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3813048"/>
            <a:ext cx="6281928" cy="429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F5F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Room roles</a:t>
            </a:r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777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A6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owner, instructor, viewer — capabilities match the role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13232" y="4343400"/>
            <a:ext cx="77724" cy="77724"/>
          </a:xfrm>
          <a:prstGeom prst="rect">
            <a:avLst/>
          </a:prstGeom>
          <a:solidFill>
            <a:srgbClr val="C7A258"/>
          </a:solidFill>
          <a:ln w="12700">
            <a:solidFill>
              <a:srgbClr val="C7A25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9264" y="4242816"/>
            <a:ext cx="6281928" cy="429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F5F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roles</a:t>
            </a:r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777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A6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user, admin, super_admin for the wider system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13232" y="4773168"/>
            <a:ext cx="77724" cy="77724"/>
          </a:xfrm>
          <a:prstGeom prst="rect">
            <a:avLst/>
          </a:prstGeom>
          <a:solidFill>
            <a:srgbClr val="C7A258"/>
          </a:solidFill>
          <a:ln w="12700">
            <a:solidFill>
              <a:srgbClr val="C7A25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9264" y="4672584"/>
            <a:ext cx="6281928" cy="429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F5F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console</a:t>
            </a:r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777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A6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separate TOTP two-factor session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13232" y="5202936"/>
            <a:ext cx="77724" cy="77724"/>
          </a:xfrm>
          <a:prstGeom prst="rect">
            <a:avLst/>
          </a:prstGeom>
          <a:solidFill>
            <a:srgbClr val="C7A258"/>
          </a:solidFill>
          <a:ln w="12700">
            <a:solidFill>
              <a:srgbClr val="C7A25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9264" y="5102352"/>
            <a:ext cx="6281928" cy="429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F5F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Guards</a:t>
            </a:r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777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A6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payload validation and rate limits on invites, reactions, hands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13232" y="5632704"/>
            <a:ext cx="77724" cy="77724"/>
          </a:xfrm>
          <a:prstGeom prst="rect">
            <a:avLst/>
          </a:prstGeom>
          <a:solidFill>
            <a:srgbClr val="C7A258"/>
          </a:solidFill>
          <a:ln w="12700">
            <a:solidFill>
              <a:srgbClr val="C7A25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9264" y="5532120"/>
            <a:ext cx="6281928" cy="429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F5F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Lifecycle</a:t>
            </a:r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777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A6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inactive rooms archive after 24 hours by default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680960" y="2788920"/>
            <a:ext cx="4005072" cy="3154680"/>
          </a:xfrm>
          <a:prstGeom prst="roundRect">
            <a:avLst>
              <a:gd name="adj" fmla="val 1739"/>
            </a:avLst>
          </a:prstGeom>
          <a:solidFill>
            <a:srgbClr val="111110"/>
          </a:solidFill>
          <a:ln w="9525">
            <a:solidFill>
              <a:srgbClr val="2A2A2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845552" y="2999232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spc="150" kern="0" dirty="0">
                <a:solidFill>
                  <a:srgbClr val="E3C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NUMBERS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7845552" y="3346704"/>
            <a:ext cx="10515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E3C7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24h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9006840" y="3346704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5F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inactivity archive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9006840" y="3602736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50" dirty="0">
                <a:solidFill>
                  <a:srgbClr val="777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stale rooms close with their state cleaned up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7845552" y="4206240"/>
            <a:ext cx="10515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E3C7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2FA</a:t>
            </a:r>
            <a:endParaRPr lang="en-US" sz="2700" dirty="0"/>
          </a:p>
        </p:txBody>
      </p:sp>
      <p:sp>
        <p:nvSpPr>
          <p:cNvPr id="26" name="Text 24"/>
          <p:cNvSpPr/>
          <p:nvPr/>
        </p:nvSpPr>
        <p:spPr>
          <a:xfrm>
            <a:off x="9006840" y="4206240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5F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protection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9006840" y="4462272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50" dirty="0">
                <a:solidFill>
                  <a:srgbClr val="777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TOTP codes and recovery codes, separate session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7845552" y="5065776"/>
            <a:ext cx="10515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E3C7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700" dirty="0"/>
          </a:p>
        </p:txBody>
      </p:sp>
      <p:sp>
        <p:nvSpPr>
          <p:cNvPr id="29" name="Text 27"/>
          <p:cNvSpPr/>
          <p:nvPr/>
        </p:nvSpPr>
        <p:spPr>
          <a:xfrm>
            <a:off x="9006840" y="506577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5F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 modes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9006840" y="5321808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50" dirty="0">
                <a:solidFill>
                  <a:srgbClr val="777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open, ask-to-join, password-protected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502920" y="6473952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120" kern="0" dirty="0">
                <a:solidFill>
                  <a:srgbClr val="7773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CHALKBOARD — PITCH DECK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10591495" y="6473952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spc="120" kern="0" dirty="0">
                <a:solidFill>
                  <a:srgbClr val="7773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/ 11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909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02920"/>
            <a:ext cx="82296" cy="82296"/>
          </a:xfrm>
          <a:prstGeom prst="rect">
            <a:avLst/>
          </a:prstGeom>
          <a:solidFill>
            <a:srgbClr val="C7A258"/>
          </a:solidFill>
          <a:ln w="12700">
            <a:solidFill>
              <a:srgbClr val="C7A25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457200"/>
            <a:ext cx="8686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E3C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/ 06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749808"/>
            <a:ext cx="11185855" cy="12344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800" dirty="0">
                <a:solidFill>
                  <a:srgbClr val="F5F2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extensible </a:t>
            </a:r>
            <a:pPr algn="l" indent="0" marL="0">
              <a:lnSpc>
                <a:spcPct val="102000"/>
              </a:lnSpc>
              <a:buNone/>
            </a:pPr>
            <a:r>
              <a:rPr lang="en-US" sz="3800" i="1" dirty="0">
                <a:solidFill>
                  <a:srgbClr val="E3C7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plugin platform</a:t>
            </a:r>
            <a:pPr algn="l" indent="0" marL="0">
              <a:lnSpc>
                <a:spcPct val="102000"/>
              </a:lnSpc>
              <a:buNone/>
            </a:pPr>
            <a:r>
              <a:rPr lang="en-US" sz="3800" dirty="0">
                <a:solidFill>
                  <a:srgbClr val="F5F2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inside the room.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02920" y="2084832"/>
            <a:ext cx="11185855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200" dirty="0">
                <a:solidFill>
                  <a:srgbClr val="A6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Built-in tools cover the common cases; a reviewed community catalogue covers the rest — without ever leaving the canvas.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2788920"/>
            <a:ext cx="6949440" cy="2788920"/>
          </a:xfrm>
          <a:prstGeom prst="roundRect">
            <a:avLst>
              <a:gd name="adj" fmla="val 1967"/>
            </a:avLst>
          </a:prstGeom>
          <a:solidFill>
            <a:srgbClr val="111110"/>
          </a:solidFill>
          <a:ln w="9525">
            <a:solidFill>
              <a:srgbClr val="2A2A2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" y="2999232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spc="150" kern="0" dirty="0">
                <a:solidFill>
                  <a:srgbClr val="E3C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BUILT-IN TOOLKIT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85800" y="3401568"/>
            <a:ext cx="45720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7A2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3401568"/>
            <a:ext cx="61264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5F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Notes</a:t>
            </a:r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777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A6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editable text on the board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85800" y="3918204"/>
            <a:ext cx="6629400" cy="13716"/>
          </a:xfrm>
          <a:prstGeom prst="rect">
            <a:avLst/>
          </a:prstGeom>
          <a:solidFill>
            <a:srgbClr val="2A2A29"/>
          </a:solidFill>
          <a:ln w="1270">
            <a:solidFill>
              <a:srgbClr val="2A2A2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3931920"/>
            <a:ext cx="45720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7A2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3931920"/>
            <a:ext cx="61264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5F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Tags</a:t>
            </a:r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777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A6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annotate selected content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85800" y="4448556"/>
            <a:ext cx="6629400" cy="13716"/>
          </a:xfrm>
          <a:prstGeom prst="rect">
            <a:avLst/>
          </a:prstGeom>
          <a:solidFill>
            <a:srgbClr val="2A2A29"/>
          </a:solidFill>
          <a:ln w="1270">
            <a:solidFill>
              <a:srgbClr val="2A2A2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4462272"/>
            <a:ext cx="45720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7A2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4462272"/>
            <a:ext cx="61264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5F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Statistics</a:t>
            </a:r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777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A6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computations at the board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5800" y="4978908"/>
            <a:ext cx="6629400" cy="13716"/>
          </a:xfrm>
          <a:prstGeom prst="rect">
            <a:avLst/>
          </a:prstGeom>
          <a:solidFill>
            <a:srgbClr val="2A2A29"/>
          </a:solidFill>
          <a:ln w="1270">
            <a:solidFill>
              <a:srgbClr val="2A2A2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4992624"/>
            <a:ext cx="45720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7A2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88720" y="4992624"/>
            <a:ext cx="61264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5F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Mathematical Set</a:t>
            </a:r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777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A6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Venn diagrams, number lines, coordinate grids, set symbols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680960" y="2788920"/>
            <a:ext cx="4005072" cy="2788920"/>
          </a:xfrm>
          <a:prstGeom prst="roundRect">
            <a:avLst>
              <a:gd name="adj" fmla="val 1967"/>
            </a:avLst>
          </a:prstGeom>
          <a:solidFill>
            <a:srgbClr val="111110"/>
          </a:solidFill>
          <a:ln w="9525">
            <a:solidFill>
              <a:srgbClr val="2A2A2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845552" y="2999232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spc="150" kern="0" dirty="0">
                <a:solidFill>
                  <a:srgbClr val="E3C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DEVELOPER WORKSPACE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891272" y="3483864"/>
            <a:ext cx="77724" cy="77724"/>
          </a:xfrm>
          <a:prstGeom prst="rect">
            <a:avLst/>
          </a:prstGeom>
          <a:solidFill>
            <a:srgbClr val="C7A258"/>
          </a:solidFill>
          <a:ln w="12700">
            <a:solidFill>
              <a:srgbClr val="C7A25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147304" y="3383280"/>
            <a:ext cx="3355848" cy="5349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F5F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Manifest</a:t>
            </a:r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777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A6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identity, version, permissions, commands, tools, entry bundle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891272" y="4018788"/>
            <a:ext cx="77724" cy="77724"/>
          </a:xfrm>
          <a:prstGeom prst="rect">
            <a:avLst/>
          </a:prstGeom>
          <a:solidFill>
            <a:srgbClr val="C7A258"/>
          </a:solidFill>
          <a:ln w="12700">
            <a:solidFill>
              <a:srgbClr val="C7A25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147304" y="3918204"/>
            <a:ext cx="3355848" cy="5349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F5F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 bridge</a:t>
            </a:r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777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A6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postMessage only — no store, cookies, or socket internals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891272" y="4553712"/>
            <a:ext cx="77724" cy="77724"/>
          </a:xfrm>
          <a:prstGeom prst="rect">
            <a:avLst/>
          </a:prstGeom>
          <a:solidFill>
            <a:srgbClr val="C7A258"/>
          </a:solidFill>
          <a:ln w="12700">
            <a:solidFill>
              <a:srgbClr val="C7A25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147304" y="4453128"/>
            <a:ext cx="3355848" cy="5349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F5F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Lifecycle</a:t>
            </a:r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777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A6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draft, version, review, approval, publish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891272" y="5088636"/>
            <a:ext cx="77724" cy="77724"/>
          </a:xfrm>
          <a:prstGeom prst="rect">
            <a:avLst/>
          </a:prstGeom>
          <a:solidFill>
            <a:srgbClr val="C7A258"/>
          </a:solidFill>
          <a:ln w="12700">
            <a:solidFill>
              <a:srgbClr val="C7A25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147304" y="4988052"/>
            <a:ext cx="3355848" cy="5349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F5F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Reviewed</a:t>
            </a:r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777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A6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administrators smoke-test every submission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02920" y="5760720"/>
            <a:ext cx="11183112" cy="502920"/>
          </a:xfrm>
          <a:prstGeom prst="roundRect">
            <a:avLst>
              <a:gd name="adj" fmla="val 10909"/>
            </a:avLst>
          </a:prstGeom>
          <a:solidFill>
            <a:srgbClr val="14171A"/>
          </a:solidFill>
          <a:ln w="9525">
            <a:solidFill>
              <a:srgbClr val="8F754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" y="5760720"/>
            <a:ext cx="10607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E3C7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15% </a:t>
            </a:r>
            <a:pPr algn="ctr" indent="0" marL="0">
              <a:buNone/>
            </a:pPr>
            <a:r>
              <a:rPr lang="en-US" sz="1050" dirty="0">
                <a:solidFill>
                  <a:srgbClr val="A6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Pro and Team revenue funds the plugin developers whose tools you use.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502920" y="6473952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120" kern="0" dirty="0">
                <a:solidFill>
                  <a:srgbClr val="7773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CHALKBOARD — PITCH DECK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10591495" y="6473952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spc="120" kern="0" dirty="0">
                <a:solidFill>
                  <a:srgbClr val="7773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/ 11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909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02920"/>
            <a:ext cx="82296" cy="82296"/>
          </a:xfrm>
          <a:prstGeom prst="rect">
            <a:avLst/>
          </a:prstGeom>
          <a:solidFill>
            <a:srgbClr val="C7A258"/>
          </a:solidFill>
          <a:ln w="12700">
            <a:solidFill>
              <a:srgbClr val="C7A25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457200"/>
            <a:ext cx="8686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E3C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/ 07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749808"/>
            <a:ext cx="11185855" cy="12344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800" dirty="0">
                <a:solidFill>
                  <a:srgbClr val="F5F2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Free to teach. </a:t>
            </a:r>
            <a:pPr algn="l" indent="0" marL="0">
              <a:lnSpc>
                <a:spcPct val="102000"/>
              </a:lnSpc>
              <a:buNone/>
            </a:pPr>
            <a:r>
              <a:rPr lang="en-US" sz="3800" i="1" dirty="0">
                <a:solidFill>
                  <a:srgbClr val="E3C7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Subscribed to keep.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02920" y="2084832"/>
            <a:ext cx="11185855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200" dirty="0">
                <a:solidFill>
                  <a:srgbClr val="A6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defined Free tier, a Pro tier for work worth keeping, and a Team workspace for whole departments. No participant paywall, ever.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2788920"/>
            <a:ext cx="3602736" cy="2880360"/>
          </a:xfrm>
          <a:prstGeom prst="roundRect">
            <a:avLst>
              <a:gd name="adj" fmla="val 1905"/>
            </a:avLst>
          </a:prstGeom>
          <a:solidFill>
            <a:srgbClr val="111110"/>
          </a:solidFill>
          <a:ln w="9525">
            <a:solidFill>
              <a:srgbClr val="2A2A2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8952" y="3127248"/>
            <a:ext cx="30906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E3C7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FREE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58952" y="3419856"/>
            <a:ext cx="30906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E3C7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$0</a:t>
            </a:r>
            <a:pPr algn="l" indent="0" marL="0">
              <a:buNone/>
            </a:pPr>
            <a:r>
              <a:rPr lang="en-US" sz="850" dirty="0">
                <a:solidFill>
                  <a:srgbClr val="777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forever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758952" y="4096512"/>
            <a:ext cx="3145536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C7A2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</a:t>
            </a:r>
            <a:pPr algn="l" indent="0" marL="0">
              <a:buNone/>
            </a:pPr>
            <a:r>
              <a:rPr lang="en-US" sz="950" dirty="0">
                <a:solidFill>
                  <a:srgbClr val="F5F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active rooms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58952" y="4357116"/>
            <a:ext cx="3145536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C7A2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</a:t>
            </a:r>
            <a:pPr algn="l" indent="0" marL="0">
              <a:buNone/>
            </a:pPr>
            <a:r>
              <a:rPr lang="en-US" sz="950" dirty="0">
                <a:solidFill>
                  <a:srgbClr val="F5F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participants per room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58952" y="4617720"/>
            <a:ext cx="3145536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C7A2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</a:t>
            </a:r>
            <a:pPr algn="l" indent="0" marL="0">
              <a:buNone/>
            </a:pPr>
            <a:r>
              <a:rPr lang="en-US" sz="950" dirty="0">
                <a:solidFill>
                  <a:srgbClr val="F5F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7-day board retention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58952" y="4878324"/>
            <a:ext cx="3145536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C7A2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</a:t>
            </a:r>
            <a:pPr algn="l" indent="0" marL="0">
              <a:buNone/>
            </a:pPr>
            <a:r>
              <a:rPr lang="en-US" sz="950" dirty="0">
                <a:solidFill>
                  <a:srgbClr val="F5F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voice minutes / month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288536" y="2788920"/>
            <a:ext cx="3602736" cy="2880360"/>
          </a:xfrm>
          <a:prstGeom prst="roundRect">
            <a:avLst>
              <a:gd name="adj" fmla="val 1905"/>
            </a:avLst>
          </a:prstGeom>
          <a:solidFill>
            <a:srgbClr val="111110"/>
          </a:solidFill>
          <a:ln w="9525">
            <a:solidFill>
              <a:srgbClr val="8F754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65392" y="2788920"/>
            <a:ext cx="1188720" cy="256032"/>
          </a:xfrm>
          <a:prstGeom prst="rect">
            <a:avLst/>
          </a:prstGeom>
          <a:solidFill>
            <a:srgbClr val="E3C77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spc="120" kern="0" dirty="0">
                <a:solidFill>
                  <a:srgbClr val="0909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4544568" y="3127248"/>
            <a:ext cx="30906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E3C7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44568" y="3419856"/>
            <a:ext cx="30906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E3C7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$5</a:t>
            </a:r>
            <a:pPr algn="l" indent="0" marL="0">
              <a:buNone/>
            </a:pPr>
            <a:r>
              <a:rPr lang="en-US" sz="850" dirty="0">
                <a:solidFill>
                  <a:srgbClr val="777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per month · $50 / year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4544568" y="4096512"/>
            <a:ext cx="3145536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C7A2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</a:t>
            </a:r>
            <a:pPr algn="l" indent="0" marL="0">
              <a:buNone/>
            </a:pPr>
            <a:r>
              <a:rPr lang="en-US" sz="950" dirty="0">
                <a:solidFill>
                  <a:srgbClr val="F5F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Unlimited rooms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544568" y="4357116"/>
            <a:ext cx="3145536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C7A2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</a:t>
            </a:r>
            <a:pPr algn="l" indent="0" marL="0">
              <a:buNone/>
            </a:pPr>
            <a:r>
              <a:rPr lang="en-US" sz="950" dirty="0">
                <a:solidFill>
                  <a:srgbClr val="F5F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participants per room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544568" y="4617720"/>
            <a:ext cx="3145536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C7A2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</a:t>
            </a:r>
            <a:pPr algn="l" indent="0" marL="0">
              <a:buNone/>
            </a:pPr>
            <a:r>
              <a:rPr lang="en-US" sz="950" dirty="0">
                <a:solidFill>
                  <a:srgbClr val="F5F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Boards kept indefinitely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544568" y="4878324"/>
            <a:ext cx="3145536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C7A2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</a:t>
            </a:r>
            <a:pPr algn="l" indent="0" marL="0">
              <a:buNone/>
            </a:pPr>
            <a:r>
              <a:rPr lang="en-US" sz="950" dirty="0">
                <a:solidFill>
                  <a:srgbClr val="F5F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plugin catalogue + publishing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544568" y="5138928"/>
            <a:ext cx="3145536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C7A2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</a:t>
            </a:r>
            <a:pPr algn="l" indent="0" marL="0">
              <a:buNone/>
            </a:pPr>
            <a:r>
              <a:rPr lang="en-US" sz="950" dirty="0">
                <a:solidFill>
                  <a:srgbClr val="F5F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PNG / SVG / PDF export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544568" y="5399532"/>
            <a:ext cx="3145536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C7A2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</a:t>
            </a:r>
            <a:pPr algn="l" indent="0" marL="0">
              <a:buNone/>
            </a:pPr>
            <a:r>
              <a:rPr lang="en-US" sz="950" dirty="0">
                <a:solidFill>
                  <a:srgbClr val="F5F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1,500 voice minutes / month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8074152" y="2788920"/>
            <a:ext cx="3602736" cy="2880360"/>
          </a:xfrm>
          <a:prstGeom prst="roundRect">
            <a:avLst>
              <a:gd name="adj" fmla="val 1905"/>
            </a:avLst>
          </a:prstGeom>
          <a:solidFill>
            <a:srgbClr val="111110"/>
          </a:solidFill>
          <a:ln w="9525">
            <a:solidFill>
              <a:srgbClr val="2A2A2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330184" y="3127248"/>
            <a:ext cx="30906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E3C7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TEAM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330184" y="3419856"/>
            <a:ext cx="30906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E3C7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$30</a:t>
            </a:r>
            <a:pPr algn="l" indent="0" marL="0">
              <a:buNone/>
            </a:pPr>
            <a:r>
              <a:rPr lang="en-US" sz="850" dirty="0">
                <a:solidFill>
                  <a:srgbClr val="777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per month · $300 / year</a:t>
            </a:r>
            <a:endParaRPr lang="en-US" sz="3400" dirty="0"/>
          </a:p>
        </p:txBody>
      </p:sp>
      <p:sp>
        <p:nvSpPr>
          <p:cNvPr id="26" name="Text 24"/>
          <p:cNvSpPr/>
          <p:nvPr/>
        </p:nvSpPr>
        <p:spPr>
          <a:xfrm>
            <a:off x="8330184" y="4096512"/>
            <a:ext cx="3145536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C7A2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</a:t>
            </a:r>
            <a:pPr algn="l" indent="0" marL="0">
              <a:buNone/>
            </a:pPr>
            <a:r>
              <a:rPr lang="en-US" sz="950" dirty="0">
                <a:solidFill>
                  <a:srgbClr val="F5F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seats in one workspace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8330184" y="4357116"/>
            <a:ext cx="3145536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C7A2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</a:t>
            </a:r>
            <a:pPr algn="l" indent="0" marL="0">
              <a:buNone/>
            </a:pPr>
            <a:r>
              <a:rPr lang="en-US" sz="950" dirty="0">
                <a:solidFill>
                  <a:srgbClr val="F5F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 participants per room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330184" y="4617720"/>
            <a:ext cx="3145536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C7A2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</a:t>
            </a:r>
            <a:pPr algn="l" indent="0" marL="0">
              <a:buNone/>
            </a:pPr>
            <a:r>
              <a:rPr lang="en-US" sz="950" dirty="0">
                <a:solidFill>
                  <a:srgbClr val="F5F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10,000 pooled voice minutes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8330184" y="4878324"/>
            <a:ext cx="3145536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C7A2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</a:t>
            </a:r>
            <a:pPr algn="l" indent="0" marL="0">
              <a:buNone/>
            </a:pPr>
            <a:r>
              <a:rPr lang="en-US" sz="950" dirty="0">
                <a:solidFill>
                  <a:srgbClr val="F5F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Member admin, one invoice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8330184" y="5138928"/>
            <a:ext cx="3145536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C7A2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</a:t>
            </a:r>
            <a:pPr algn="l" indent="0" marL="0">
              <a:buNone/>
            </a:pPr>
            <a:r>
              <a:rPr lang="en-US" sz="950" dirty="0">
                <a:solidFill>
                  <a:srgbClr val="F5F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branding, priority support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02920" y="5815584"/>
            <a:ext cx="1118311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77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Self-serve hosted checkout and subscriptions (card, bank transfer, mobile money) with a customer portal; add-on seats for Team. Includes a 15% developer pool on paid revenue.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02920" y="6473952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120" kern="0" dirty="0">
                <a:solidFill>
                  <a:srgbClr val="7773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CHALKBOARD — PITCH DECK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10591495" y="6473952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spc="120" kern="0" dirty="0">
                <a:solidFill>
                  <a:srgbClr val="7773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/ 11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909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02920"/>
            <a:ext cx="82296" cy="82296"/>
          </a:xfrm>
          <a:prstGeom prst="rect">
            <a:avLst/>
          </a:prstGeom>
          <a:solidFill>
            <a:srgbClr val="C7A258"/>
          </a:solidFill>
          <a:ln w="12700">
            <a:solidFill>
              <a:srgbClr val="C7A25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457200"/>
            <a:ext cx="8686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E3C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/ 08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749808"/>
            <a:ext cx="11185855" cy="12344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800" dirty="0">
                <a:solidFill>
                  <a:srgbClr val="F5F2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Realtime by design, </a:t>
            </a:r>
            <a:pPr algn="l" indent="0" marL="0">
              <a:lnSpc>
                <a:spcPct val="102000"/>
              </a:lnSpc>
              <a:buNone/>
            </a:pPr>
            <a:r>
              <a:rPr lang="en-US" sz="3800" i="1" dirty="0">
                <a:solidFill>
                  <a:srgbClr val="E3C7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typed end to end.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02920" y="2084832"/>
            <a:ext cx="11185855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200" dirty="0">
                <a:solidFill>
                  <a:srgbClr val="A6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deliberately small stack: one Node.js process serves the API, realtime, and the compiled frontend.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2880360"/>
            <a:ext cx="3602736" cy="1207008"/>
          </a:xfrm>
          <a:prstGeom prst="roundRect">
            <a:avLst>
              <a:gd name="adj" fmla="val 4545"/>
            </a:avLst>
          </a:prstGeom>
          <a:solidFill>
            <a:srgbClr val="111110"/>
          </a:solidFill>
          <a:ln w="9525">
            <a:solidFill>
              <a:srgbClr val="2A2A2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2880360"/>
            <a:ext cx="45720" cy="1207008"/>
          </a:xfrm>
          <a:prstGeom prst="rect">
            <a:avLst/>
          </a:prstGeom>
          <a:solidFill>
            <a:srgbClr val="C7A258"/>
          </a:solidFill>
          <a:ln w="1270">
            <a:solidFill>
              <a:srgbClr val="C7A25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58952" y="3081528"/>
            <a:ext cx="31455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F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+ TypeScript + Vite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58952" y="3447288"/>
            <a:ext cx="30998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6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typed browser app, canvas renderers, Zustand state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288536" y="2880360"/>
            <a:ext cx="3602736" cy="1207008"/>
          </a:xfrm>
          <a:prstGeom prst="roundRect">
            <a:avLst>
              <a:gd name="adj" fmla="val 4545"/>
            </a:avLst>
          </a:prstGeom>
          <a:solidFill>
            <a:srgbClr val="111110"/>
          </a:solidFill>
          <a:ln w="9525">
            <a:solidFill>
              <a:srgbClr val="2A2A2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88536" y="2880360"/>
            <a:ext cx="45720" cy="1207008"/>
          </a:xfrm>
          <a:prstGeom prst="rect">
            <a:avLst/>
          </a:prstGeom>
          <a:solidFill>
            <a:srgbClr val="C7A258"/>
          </a:solidFill>
          <a:ln w="1270">
            <a:solidFill>
              <a:srgbClr val="C7A25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44568" y="3081528"/>
            <a:ext cx="31455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F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Hono + Socket.IO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44568" y="3447288"/>
            <a:ext cx="30998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6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API and authenticated realtime rooms, Redis adapter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074152" y="2880360"/>
            <a:ext cx="3602736" cy="1207008"/>
          </a:xfrm>
          <a:prstGeom prst="roundRect">
            <a:avLst>
              <a:gd name="adj" fmla="val 4545"/>
            </a:avLst>
          </a:prstGeom>
          <a:solidFill>
            <a:srgbClr val="111110"/>
          </a:solidFill>
          <a:ln w="9525">
            <a:solidFill>
              <a:srgbClr val="2A2A2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74152" y="2880360"/>
            <a:ext cx="45720" cy="1207008"/>
          </a:xfrm>
          <a:prstGeom prst="rect">
            <a:avLst/>
          </a:prstGeom>
          <a:solidFill>
            <a:srgbClr val="C7A258"/>
          </a:solidFill>
          <a:ln w="1270">
            <a:solidFill>
              <a:srgbClr val="C7A25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30184" y="3081528"/>
            <a:ext cx="31455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F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+ Drizzle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330184" y="3447288"/>
            <a:ext cx="30998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6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users, rooms, members, plugins, billing, migrations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02920" y="4288536"/>
            <a:ext cx="3602736" cy="1207008"/>
          </a:xfrm>
          <a:prstGeom prst="roundRect">
            <a:avLst>
              <a:gd name="adj" fmla="val 4545"/>
            </a:avLst>
          </a:prstGeom>
          <a:solidFill>
            <a:srgbClr val="111110"/>
          </a:solidFill>
          <a:ln w="9525">
            <a:solidFill>
              <a:srgbClr val="2A2A2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4288536"/>
            <a:ext cx="45720" cy="1207008"/>
          </a:xfrm>
          <a:prstGeom prst="rect">
            <a:avLst/>
          </a:prstGeom>
          <a:solidFill>
            <a:srgbClr val="C7A258"/>
          </a:solidFill>
          <a:ln w="1270">
            <a:solidFill>
              <a:srgbClr val="C7A25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58952" y="4489704"/>
            <a:ext cx="31455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F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 + BullMQ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58952" y="4855464"/>
            <a:ext cx="30998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6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canvas state, presence, rate limits, cleanup jobs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288536" y="4288536"/>
            <a:ext cx="3602736" cy="1207008"/>
          </a:xfrm>
          <a:prstGeom prst="roundRect">
            <a:avLst>
              <a:gd name="adj" fmla="val 4545"/>
            </a:avLst>
          </a:prstGeom>
          <a:solidFill>
            <a:srgbClr val="111110"/>
          </a:solidFill>
          <a:ln w="9525">
            <a:solidFill>
              <a:srgbClr val="2A2A2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288536" y="4288536"/>
            <a:ext cx="45720" cy="1207008"/>
          </a:xfrm>
          <a:prstGeom prst="rect">
            <a:avLst/>
          </a:prstGeom>
          <a:solidFill>
            <a:srgbClr val="C7A258"/>
          </a:solidFill>
          <a:ln w="1270">
            <a:solidFill>
              <a:srgbClr val="C7A25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44568" y="4489704"/>
            <a:ext cx="31455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F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LiveKit + Google Identity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44568" y="4855464"/>
            <a:ext cx="30998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6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 voice tokens, verified server-side sign-in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8074152" y="4288536"/>
            <a:ext cx="3602736" cy="1207008"/>
          </a:xfrm>
          <a:prstGeom prst="roundRect">
            <a:avLst>
              <a:gd name="adj" fmla="val 4545"/>
            </a:avLst>
          </a:prstGeom>
          <a:solidFill>
            <a:srgbClr val="111110"/>
          </a:solidFill>
          <a:ln w="9525">
            <a:solidFill>
              <a:srgbClr val="2A2A2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074152" y="4288536"/>
            <a:ext cx="45720" cy="1207008"/>
          </a:xfrm>
          <a:prstGeom prst="rect">
            <a:avLst/>
          </a:prstGeom>
          <a:solidFill>
            <a:srgbClr val="C7A258"/>
          </a:solidFill>
          <a:ln w="1270">
            <a:solidFill>
              <a:srgbClr val="C7A25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30184" y="4489704"/>
            <a:ext cx="31455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F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Cloudflare R2 + Zod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330184" y="4855464"/>
            <a:ext cx="30998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6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plugin assets; validated payloads and structured logs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02920" y="5596128"/>
            <a:ext cx="11183112" cy="502920"/>
          </a:xfrm>
          <a:prstGeom prst="roundRect">
            <a:avLst>
              <a:gd name="adj" fmla="val 10909"/>
            </a:avLst>
          </a:prstGeom>
          <a:solidFill>
            <a:srgbClr val="14171A"/>
          </a:solidFill>
          <a:ln w="9525">
            <a:solidFill>
              <a:srgbClr val="8F754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7240" y="5596128"/>
            <a:ext cx="10607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6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Development mirrors production: Vite proxies /api and /socket.io to the same backend — one process, one contract.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02920" y="6473952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120" kern="0" dirty="0">
                <a:solidFill>
                  <a:srgbClr val="7773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CHALKBOARD — PITCH DECK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10591495" y="6473952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spc="120" kern="0" dirty="0">
                <a:solidFill>
                  <a:srgbClr val="7773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/ 11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909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02920"/>
            <a:ext cx="82296" cy="82296"/>
          </a:xfrm>
          <a:prstGeom prst="rect">
            <a:avLst/>
          </a:prstGeom>
          <a:solidFill>
            <a:srgbClr val="C7A258"/>
          </a:solidFill>
          <a:ln w="12700">
            <a:solidFill>
              <a:srgbClr val="C7A25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457200"/>
            <a:ext cx="8686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E3C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/ 09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749808"/>
            <a:ext cx="11185855" cy="12344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800" dirty="0">
                <a:solidFill>
                  <a:srgbClr val="F5F2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Beta is </a:t>
            </a:r>
            <a:pPr algn="l" indent="0" marL="0">
              <a:lnSpc>
                <a:spcPct val="102000"/>
              </a:lnSpc>
              <a:buNone/>
            </a:pPr>
            <a:r>
              <a:rPr lang="en-US" sz="3800" i="1" dirty="0">
                <a:solidFill>
                  <a:srgbClr val="E3C7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live.</a:t>
            </a:r>
            <a:pPr algn="l" indent="0" marL="0">
              <a:lnSpc>
                <a:spcPct val="102000"/>
              </a:lnSpc>
              <a:buNone/>
            </a:pPr>
            <a:r>
              <a:rPr lang="en-US" sz="3800" dirty="0">
                <a:solidFill>
                  <a:srgbClr val="F5F2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room is open.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02920" y="2084832"/>
            <a:ext cx="11185855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200" dirty="0">
                <a:solidFill>
                  <a:srgbClr val="A6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chalkboard.click is running today with realtime rooms, a full plugin lifecycle, self-serve billing, and a guarded admin console.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2788920"/>
            <a:ext cx="6949440" cy="2926080"/>
          </a:xfrm>
          <a:prstGeom prst="roundRect">
            <a:avLst>
              <a:gd name="adj" fmla="val 1875"/>
            </a:avLst>
          </a:prstGeom>
          <a:solidFill>
            <a:srgbClr val="111110"/>
          </a:solidFill>
          <a:ln w="9525">
            <a:solidFill>
              <a:srgbClr val="2A2A2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" y="2999232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spc="150" kern="0" dirty="0">
                <a:solidFill>
                  <a:srgbClr val="E3C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SHIPPED / TODAY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713232" y="3483864"/>
            <a:ext cx="77724" cy="77724"/>
          </a:xfrm>
          <a:prstGeom prst="rect">
            <a:avLst/>
          </a:prstGeom>
          <a:solidFill>
            <a:srgbClr val="C7A258"/>
          </a:solidFill>
          <a:ln w="12700">
            <a:solidFill>
              <a:srgbClr val="C7A25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9264" y="3383280"/>
            <a:ext cx="6281928" cy="448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F5F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Realtime rooms</a:t>
            </a:r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777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A6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history, reconnection, voice, roles, access modes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13232" y="3931920"/>
            <a:ext cx="77724" cy="77724"/>
          </a:xfrm>
          <a:prstGeom prst="rect">
            <a:avLst/>
          </a:prstGeom>
          <a:solidFill>
            <a:srgbClr val="C7A258"/>
          </a:solidFill>
          <a:ln w="12700">
            <a:solidFill>
              <a:srgbClr val="C7A25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3831336"/>
            <a:ext cx="6281928" cy="448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F5F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Canvas toolkit</a:t>
            </a:r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777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A6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chalk, shapes, notes, links, selection, sync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13232" y="4379976"/>
            <a:ext cx="77724" cy="77724"/>
          </a:xfrm>
          <a:prstGeom prst="rect">
            <a:avLst/>
          </a:prstGeom>
          <a:solidFill>
            <a:srgbClr val="C7A258"/>
          </a:solidFill>
          <a:ln w="12700">
            <a:solidFill>
              <a:srgbClr val="C7A25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9264" y="4279392"/>
            <a:ext cx="6281928" cy="448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F5F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Plugin platform</a:t>
            </a:r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777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A6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workspace, review, approval, publishing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13232" y="4828032"/>
            <a:ext cx="77724" cy="77724"/>
          </a:xfrm>
          <a:prstGeom prst="rect">
            <a:avLst/>
          </a:prstGeom>
          <a:solidFill>
            <a:srgbClr val="C7A258"/>
          </a:solidFill>
          <a:ln w="12700">
            <a:solidFill>
              <a:srgbClr val="C7A25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9264" y="4727448"/>
            <a:ext cx="6281928" cy="448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F5F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Self-serve billing</a:t>
            </a:r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777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A6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/ Pro / Team with hosted checkout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13232" y="5276088"/>
            <a:ext cx="77724" cy="77724"/>
          </a:xfrm>
          <a:prstGeom prst="rect">
            <a:avLst/>
          </a:prstGeom>
          <a:solidFill>
            <a:srgbClr val="C7A258"/>
          </a:solidFill>
          <a:ln w="12700">
            <a:solidFill>
              <a:srgbClr val="C7A25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9264" y="5175504"/>
            <a:ext cx="6281928" cy="448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F5F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console</a:t>
            </a:r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777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A6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TOTP 2FA, plugin reviews, analytics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680960" y="2788920"/>
            <a:ext cx="4005072" cy="2926080"/>
          </a:xfrm>
          <a:prstGeom prst="roundRect">
            <a:avLst>
              <a:gd name="adj" fmla="val 1875"/>
            </a:avLst>
          </a:prstGeom>
          <a:solidFill>
            <a:srgbClr val="111110"/>
          </a:solidFill>
          <a:ln w="9525">
            <a:solidFill>
              <a:srgbClr val="2A2A2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845552" y="2999232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spc="150" kern="0" dirty="0">
                <a:solidFill>
                  <a:srgbClr val="E3C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/ ON THE ROAD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7845552" y="3401568"/>
            <a:ext cx="4572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7A2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348472" y="3401568"/>
            <a:ext cx="32004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5F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Onboarding</a:t>
            </a:r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777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A6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sharpen invites and first-room flow.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845552" y="3954780"/>
            <a:ext cx="3703320" cy="13716"/>
          </a:xfrm>
          <a:prstGeom prst="rect">
            <a:avLst/>
          </a:prstGeom>
          <a:solidFill>
            <a:srgbClr val="2A2A29"/>
          </a:solidFill>
          <a:ln w="1270">
            <a:solidFill>
              <a:srgbClr val="2A2A2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845552" y="3968496"/>
            <a:ext cx="4572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7A2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348472" y="3968496"/>
            <a:ext cx="32004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5F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Catalogue</a:t>
            </a:r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777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A6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 reviewed community plugins.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845552" y="4521708"/>
            <a:ext cx="3703320" cy="13716"/>
          </a:xfrm>
          <a:prstGeom prst="rect">
            <a:avLst/>
          </a:prstGeom>
          <a:solidFill>
            <a:srgbClr val="2A2A29"/>
          </a:solidFill>
          <a:ln w="1270">
            <a:solidFill>
              <a:srgbClr val="2A2A2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845552" y="4535424"/>
            <a:ext cx="4572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7A2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348472" y="4535424"/>
            <a:ext cx="32004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5F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</a:t>
            </a:r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777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A6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presence and voice across instances.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845552" y="5088636"/>
            <a:ext cx="3703320" cy="13716"/>
          </a:xfrm>
          <a:prstGeom prst="rect">
            <a:avLst/>
          </a:prstGeom>
          <a:solidFill>
            <a:srgbClr val="2A2A29"/>
          </a:solidFill>
          <a:ln w="1270">
            <a:solidFill>
              <a:srgbClr val="2A2A2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845552" y="5102352"/>
            <a:ext cx="4572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7A2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348472" y="5102352"/>
            <a:ext cx="32004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5F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Tooling</a:t>
            </a:r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777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A6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and workspace administration.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02920" y="58978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77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it: </a:t>
            </a:r>
            <a:pPr algn="l" indent="0" marL="0">
              <a:buNone/>
            </a:pPr>
            <a:r>
              <a:rPr lang="en-US" sz="1100" dirty="0">
                <a:solidFill>
                  <a:srgbClr val="E3C7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chalkboard.click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02920" y="6473952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120" kern="0" dirty="0">
                <a:solidFill>
                  <a:srgbClr val="7773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CHALKBOARD — PITCH DECK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10591495" y="6473952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spc="120" kern="0" dirty="0">
                <a:solidFill>
                  <a:srgbClr val="7773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11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909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440000">
            <a:off x="-1554480" y="-1920240"/>
            <a:ext cx="4206240" cy="5394960"/>
          </a:xfrm>
          <a:prstGeom prst="ellipse">
            <a:avLst/>
          </a:prstGeom>
          <a:solidFill>
            <a:srgbClr val="090909">
              <a:alpha val="0"/>
            </a:srgbClr>
          </a:solidFill>
          <a:ln w="15875">
            <a:solidFill>
              <a:srgbClr val="2A2A2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1260000">
            <a:off x="9784080" y="3291840"/>
            <a:ext cx="4023360" cy="3108960"/>
          </a:xfrm>
          <a:prstGeom prst="ellipse">
            <a:avLst/>
          </a:prstGeom>
          <a:solidFill>
            <a:srgbClr val="090909">
              <a:alpha val="0"/>
            </a:srgbClr>
          </a:solidFill>
          <a:ln w="15875">
            <a:solidFill>
              <a:srgbClr val="2A2A2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600000">
            <a:off x="2011680" y="4754880"/>
            <a:ext cx="2377440" cy="1554480"/>
          </a:xfrm>
          <a:prstGeom prst="ellipse">
            <a:avLst/>
          </a:prstGeom>
          <a:solidFill>
            <a:srgbClr val="090909">
              <a:alpha val="0"/>
            </a:srgbClr>
          </a:solidFill>
          <a:ln w="13970">
            <a:solidFill>
              <a:srgbClr val="8F754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-480000">
            <a:off x="914400" y="2377440"/>
            <a:ext cx="1920240" cy="41148"/>
          </a:xfrm>
          <a:prstGeom prst="rect">
            <a:avLst/>
          </a:prstGeom>
          <a:solidFill>
            <a:srgbClr val="E3C77E">
              <a:alpha val="15000"/>
            </a:srgbClr>
          </a:solidFill>
          <a:ln w="1270">
            <a:solidFill>
              <a:srgbClr val="E3C77E">
                <a:alpha val="1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360000">
            <a:off x="1920240" y="2651760"/>
            <a:ext cx="1188720" cy="41148"/>
          </a:xfrm>
          <a:prstGeom prst="rect">
            <a:avLst/>
          </a:prstGeom>
          <a:solidFill>
            <a:srgbClr val="F5F2EA">
              <a:alpha val="12000"/>
            </a:srgbClr>
          </a:solidFill>
          <a:ln w="1270">
            <a:solidFill>
              <a:srgbClr val="F5F2EA">
                <a:alpha val="1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720000">
            <a:off x="9418320" y="2103120"/>
            <a:ext cx="1737360" cy="41148"/>
          </a:xfrm>
          <a:prstGeom prst="rect">
            <a:avLst/>
          </a:prstGeom>
          <a:solidFill>
            <a:srgbClr val="E3C77E">
              <a:alpha val="18000"/>
            </a:srgbClr>
          </a:solidFill>
          <a:ln w="1270">
            <a:solidFill>
              <a:srgbClr val="E3C77E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230368" y="1463040"/>
            <a:ext cx="82296" cy="82296"/>
          </a:xfrm>
          <a:prstGeom prst="rect">
            <a:avLst/>
          </a:prstGeom>
          <a:solidFill>
            <a:srgbClr val="C7A258"/>
          </a:solidFill>
          <a:ln w="12700">
            <a:solidFill>
              <a:srgbClr val="C7A25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13248" y="1417320"/>
            <a:ext cx="8686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E3C7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CHALKBOARD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527048" y="2011680"/>
            <a:ext cx="9144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F5F2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Move </a:t>
            </a:r>
            <a:pPr algn="ctr" indent="0" marL="0">
              <a:buNone/>
            </a:pPr>
            <a:r>
              <a:rPr lang="en-US" sz="5200" i="1" dirty="0">
                <a:solidFill>
                  <a:srgbClr val="E3C7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together.</a:t>
            </a:r>
            <a:endParaRPr lang="en-US" sz="5200" dirty="0"/>
          </a:p>
        </p:txBody>
      </p:sp>
      <p:sp>
        <p:nvSpPr>
          <p:cNvPr id="11" name="Text 9"/>
          <p:cNvSpPr/>
          <p:nvPr/>
        </p:nvSpPr>
        <p:spPr>
          <a:xfrm>
            <a:off x="2441448" y="34290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A6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 the next idea somewhere to go — a live room at chalkboard.click, or this repository to read the full plan.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773168" y="4251960"/>
            <a:ext cx="2651760" cy="457200"/>
          </a:xfrm>
          <a:prstGeom prst="roundRect">
            <a:avLst>
              <a:gd name="adj" fmla="val 10000"/>
            </a:avLst>
          </a:prstGeom>
          <a:solidFill>
            <a:srgbClr val="C7A258"/>
          </a:solidFill>
          <a:ln w="12700">
            <a:solidFill>
              <a:srgbClr val="C7A258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150" kern="0" dirty="0">
                <a:solidFill>
                  <a:srgbClr val="191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A ROOM — CHALKBOARD.CLICK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502920" y="6473952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120" kern="0" dirty="0">
                <a:solidFill>
                  <a:srgbClr val="7773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CHALKBOARD — PITCH DECK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10591495" y="6473952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spc="120" kern="0" dirty="0">
                <a:solidFill>
                  <a:srgbClr val="7773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11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Chalkboard — A live canvas for shared thinking</dc:title>
  <dc:subject>Product pitch deck</dc:subject>
  <dc:creator>Chalkboard</dc:creator>
  <cp:lastModifiedBy>Chalkboard</cp:lastModifiedBy>
  <cp:revision>1</cp:revision>
  <dcterms:created xsi:type="dcterms:W3CDTF">2026-08-18T13:40:20Z</dcterms:created>
  <dcterms:modified xsi:type="dcterms:W3CDTF">2026-08-18T13:40:20Z</dcterms:modified>
</cp:coreProperties>
</file>